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Helios Extended Bold" charset="1" panose="02000805050000020004"/>
      <p:regular r:id="rId16"/>
    </p:embeddedFont>
    <p:embeddedFont>
      <p:font typeface="Iffat" charset="1" panose="00000000000000000000"/>
      <p:regular r:id="rId17"/>
    </p:embeddedFont>
    <p:embeddedFont>
      <p:font typeface="DM Sans Bol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875812" y="5692375"/>
            <a:ext cx="10999339" cy="5631662"/>
          </a:xfrm>
          <a:custGeom>
            <a:avLst/>
            <a:gdLst/>
            <a:ahLst/>
            <a:cxnLst/>
            <a:rect r="r" b="b" t="t" l="l"/>
            <a:pathLst>
              <a:path h="5631662" w="10999339">
                <a:moveTo>
                  <a:pt x="0" y="0"/>
                </a:moveTo>
                <a:lnTo>
                  <a:pt x="10999339" y="0"/>
                </a:lnTo>
                <a:lnTo>
                  <a:pt x="10999339" y="5631662"/>
                </a:lnTo>
                <a:lnTo>
                  <a:pt x="0" y="5631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587151" y="-1037037"/>
            <a:ext cx="10999339" cy="5631662"/>
          </a:xfrm>
          <a:custGeom>
            <a:avLst/>
            <a:gdLst/>
            <a:ahLst/>
            <a:cxnLst/>
            <a:rect r="r" b="b" t="t" l="l"/>
            <a:pathLst>
              <a:path h="5631662" w="10999339">
                <a:moveTo>
                  <a:pt x="10999339" y="5631662"/>
                </a:moveTo>
                <a:lnTo>
                  <a:pt x="0" y="5631662"/>
                </a:lnTo>
                <a:lnTo>
                  <a:pt x="0" y="0"/>
                </a:lnTo>
                <a:lnTo>
                  <a:pt x="10999339" y="0"/>
                </a:lnTo>
                <a:lnTo>
                  <a:pt x="10999339" y="563166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008145" y="4110038"/>
            <a:ext cx="5152455" cy="8237937"/>
          </a:xfrm>
          <a:custGeom>
            <a:avLst/>
            <a:gdLst/>
            <a:ahLst/>
            <a:cxnLst/>
            <a:rect r="r" b="b" t="t" l="l"/>
            <a:pathLst>
              <a:path h="8237937" w="5152455">
                <a:moveTo>
                  <a:pt x="5152455" y="0"/>
                </a:moveTo>
                <a:lnTo>
                  <a:pt x="0" y="0"/>
                </a:lnTo>
                <a:lnTo>
                  <a:pt x="0" y="8237937"/>
                </a:lnTo>
                <a:lnTo>
                  <a:pt x="5152455" y="8237937"/>
                </a:lnTo>
                <a:lnTo>
                  <a:pt x="51524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3889831" y="-2340175"/>
            <a:ext cx="5152455" cy="8237937"/>
          </a:xfrm>
          <a:custGeom>
            <a:avLst/>
            <a:gdLst/>
            <a:ahLst/>
            <a:cxnLst/>
            <a:rect r="r" b="b" t="t" l="l"/>
            <a:pathLst>
              <a:path h="8237937" w="5152455">
                <a:moveTo>
                  <a:pt x="0" y="8237937"/>
                </a:moveTo>
                <a:lnTo>
                  <a:pt x="5152455" y="8237937"/>
                </a:lnTo>
                <a:lnTo>
                  <a:pt x="5152455" y="0"/>
                </a:lnTo>
                <a:lnTo>
                  <a:pt x="0" y="0"/>
                </a:lnTo>
                <a:lnTo>
                  <a:pt x="0" y="823793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400000">
            <a:off x="16457134" y="3902331"/>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5400000">
            <a:off x="226534" y="5737959"/>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634754" y="3795923"/>
            <a:ext cx="13018493" cy="1001061"/>
          </a:xfrm>
          <a:prstGeom prst="rect">
            <a:avLst/>
          </a:prstGeom>
        </p:spPr>
        <p:txBody>
          <a:bodyPr anchor="t" rtlCol="false" tIns="0" lIns="0" bIns="0" rIns="0">
            <a:spAutoFit/>
          </a:bodyPr>
          <a:lstStyle/>
          <a:p>
            <a:pPr algn="ctr" marL="0" indent="0" lvl="0">
              <a:lnSpc>
                <a:spcPts val="7823"/>
              </a:lnSpc>
            </a:pPr>
            <a:r>
              <a:rPr lang="en-US" b="true" sz="5588">
                <a:solidFill>
                  <a:srgbClr val="026263"/>
                </a:solidFill>
                <a:latin typeface="Helios Extended Bold"/>
                <a:ea typeface="Helios Extended Bold"/>
                <a:cs typeface="Helios Extended Bold"/>
                <a:sym typeface="Helios Extended Bold"/>
              </a:rPr>
              <a:t>AI STUDY NOTES GENERATOR</a:t>
            </a:r>
          </a:p>
        </p:txBody>
      </p:sp>
      <p:sp>
        <p:nvSpPr>
          <p:cNvPr name="TextBox 10" id="10"/>
          <p:cNvSpPr txBox="true"/>
          <p:nvPr/>
        </p:nvSpPr>
        <p:spPr>
          <a:xfrm rot="0">
            <a:off x="4882925" y="5392484"/>
            <a:ext cx="8522150" cy="941003"/>
          </a:xfrm>
          <a:prstGeom prst="rect">
            <a:avLst/>
          </a:prstGeom>
        </p:spPr>
        <p:txBody>
          <a:bodyPr anchor="t" rtlCol="false" tIns="0" lIns="0" bIns="0" rIns="0">
            <a:spAutoFit/>
          </a:bodyPr>
          <a:lstStyle/>
          <a:p>
            <a:pPr algn="ctr" marL="0" indent="0" lvl="0">
              <a:lnSpc>
                <a:spcPts val="3783"/>
              </a:lnSpc>
            </a:pPr>
            <a:r>
              <a:rPr lang="en-US" sz="2702">
                <a:solidFill>
                  <a:srgbClr val="026263"/>
                </a:solidFill>
                <a:latin typeface="Iffat"/>
                <a:ea typeface="Iffat"/>
                <a:cs typeface="Iffat"/>
                <a:sym typeface="Iffat"/>
              </a:rPr>
              <a:t>AI-Powered Smart Notes for Students</a:t>
            </a:r>
          </a:p>
          <a:p>
            <a:pPr algn="ctr" marL="0" indent="0" lvl="0">
              <a:lnSpc>
                <a:spcPts val="3783"/>
              </a:lnSpc>
            </a:pPr>
            <a:r>
              <a:rPr lang="en-US" sz="2702">
                <a:solidFill>
                  <a:srgbClr val="026263"/>
                </a:solidFill>
                <a:latin typeface="Iffat"/>
                <a:ea typeface="Iffat"/>
                <a:cs typeface="Iffat"/>
                <a:sym typeface="Iffat"/>
              </a:rPr>
              <a:t>Prepared By: Anamika Lodhi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875812" y="5692375"/>
            <a:ext cx="10999339" cy="5631662"/>
          </a:xfrm>
          <a:custGeom>
            <a:avLst/>
            <a:gdLst/>
            <a:ahLst/>
            <a:cxnLst/>
            <a:rect r="r" b="b" t="t" l="l"/>
            <a:pathLst>
              <a:path h="5631662" w="10999339">
                <a:moveTo>
                  <a:pt x="0" y="0"/>
                </a:moveTo>
                <a:lnTo>
                  <a:pt x="10999339" y="0"/>
                </a:lnTo>
                <a:lnTo>
                  <a:pt x="10999339" y="5631662"/>
                </a:lnTo>
                <a:lnTo>
                  <a:pt x="0" y="5631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587151" y="-1037037"/>
            <a:ext cx="10999339" cy="5631662"/>
          </a:xfrm>
          <a:custGeom>
            <a:avLst/>
            <a:gdLst/>
            <a:ahLst/>
            <a:cxnLst/>
            <a:rect r="r" b="b" t="t" l="l"/>
            <a:pathLst>
              <a:path h="5631662" w="10999339">
                <a:moveTo>
                  <a:pt x="10999339" y="5631662"/>
                </a:moveTo>
                <a:lnTo>
                  <a:pt x="0" y="5631662"/>
                </a:lnTo>
                <a:lnTo>
                  <a:pt x="0" y="0"/>
                </a:lnTo>
                <a:lnTo>
                  <a:pt x="10999339" y="0"/>
                </a:lnTo>
                <a:lnTo>
                  <a:pt x="10999339" y="563166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008145" y="4110038"/>
            <a:ext cx="5152455" cy="8237937"/>
          </a:xfrm>
          <a:custGeom>
            <a:avLst/>
            <a:gdLst/>
            <a:ahLst/>
            <a:cxnLst/>
            <a:rect r="r" b="b" t="t" l="l"/>
            <a:pathLst>
              <a:path h="8237937" w="5152455">
                <a:moveTo>
                  <a:pt x="5152455" y="0"/>
                </a:moveTo>
                <a:lnTo>
                  <a:pt x="0" y="0"/>
                </a:lnTo>
                <a:lnTo>
                  <a:pt x="0" y="8237937"/>
                </a:lnTo>
                <a:lnTo>
                  <a:pt x="5152455" y="8237937"/>
                </a:lnTo>
                <a:lnTo>
                  <a:pt x="51524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3889831" y="-2340175"/>
            <a:ext cx="5152455" cy="8237937"/>
          </a:xfrm>
          <a:custGeom>
            <a:avLst/>
            <a:gdLst/>
            <a:ahLst/>
            <a:cxnLst/>
            <a:rect r="r" b="b" t="t" l="l"/>
            <a:pathLst>
              <a:path h="8237937" w="5152455">
                <a:moveTo>
                  <a:pt x="0" y="8237937"/>
                </a:moveTo>
                <a:lnTo>
                  <a:pt x="5152455" y="8237937"/>
                </a:lnTo>
                <a:lnTo>
                  <a:pt x="5152455" y="0"/>
                </a:lnTo>
                <a:lnTo>
                  <a:pt x="0" y="0"/>
                </a:lnTo>
                <a:lnTo>
                  <a:pt x="0" y="823793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400000">
            <a:off x="16457134" y="3902331"/>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5400000">
            <a:off x="226534" y="5737959"/>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962062" y="1431288"/>
            <a:ext cx="10363876" cy="1055709"/>
          </a:xfrm>
          <a:prstGeom prst="rect">
            <a:avLst/>
          </a:prstGeom>
        </p:spPr>
        <p:txBody>
          <a:bodyPr anchor="t" rtlCol="false" tIns="0" lIns="0" bIns="0" rIns="0">
            <a:spAutoFit/>
          </a:bodyPr>
          <a:lstStyle/>
          <a:p>
            <a:pPr algn="ctr" marL="0" indent="0" lvl="0">
              <a:lnSpc>
                <a:spcPts val="8305"/>
              </a:lnSpc>
            </a:pPr>
            <a:r>
              <a:rPr lang="en-US" b="true" sz="5932">
                <a:solidFill>
                  <a:srgbClr val="026263"/>
                </a:solidFill>
                <a:latin typeface="Helios Extended Bold"/>
                <a:ea typeface="Helios Extended Bold"/>
                <a:cs typeface="Helios Extended Bold"/>
                <a:sym typeface="Helios Extended Bold"/>
              </a:rPr>
              <a:t>PROBLEM STATEMENT</a:t>
            </a:r>
          </a:p>
        </p:txBody>
      </p:sp>
      <p:grpSp>
        <p:nvGrpSpPr>
          <p:cNvPr name="Group 10" id="10"/>
          <p:cNvGrpSpPr/>
          <p:nvPr/>
        </p:nvGrpSpPr>
        <p:grpSpPr>
          <a:xfrm rot="0">
            <a:off x="5684600" y="3047897"/>
            <a:ext cx="2916436" cy="2691406"/>
            <a:chOff x="0" y="0"/>
            <a:chExt cx="768115" cy="708848"/>
          </a:xfrm>
        </p:grpSpPr>
        <p:sp>
          <p:nvSpPr>
            <p:cNvPr name="Freeform 11" id="11"/>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12" id="12"/>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13" id="13"/>
          <p:cNvSpPr txBox="true"/>
          <p:nvPr/>
        </p:nvSpPr>
        <p:spPr>
          <a:xfrm rot="0">
            <a:off x="6000754" y="3307750"/>
            <a:ext cx="2284128" cy="20924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Students spend hours manually creating notes, wasting valuable study time.</a:t>
            </a:r>
          </a:p>
        </p:txBody>
      </p:sp>
      <p:grpSp>
        <p:nvGrpSpPr>
          <p:cNvPr name="Group 14" id="14"/>
          <p:cNvGrpSpPr/>
          <p:nvPr/>
        </p:nvGrpSpPr>
        <p:grpSpPr>
          <a:xfrm rot="0">
            <a:off x="3369757" y="3062481"/>
            <a:ext cx="1905681" cy="2676822"/>
            <a:chOff x="0" y="0"/>
            <a:chExt cx="501908" cy="705007"/>
          </a:xfrm>
        </p:grpSpPr>
        <p:sp>
          <p:nvSpPr>
            <p:cNvPr name="Freeform 15" id="15"/>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16" id="16"/>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17" id="17"/>
          <p:cNvSpPr txBox="true"/>
          <p:nvPr/>
        </p:nvSpPr>
        <p:spPr>
          <a:xfrm rot="0">
            <a:off x="3810159" y="3801446"/>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1</a:t>
            </a:r>
          </a:p>
        </p:txBody>
      </p:sp>
      <p:grpSp>
        <p:nvGrpSpPr>
          <p:cNvPr name="Group 18" id="18"/>
          <p:cNvGrpSpPr/>
          <p:nvPr/>
        </p:nvGrpSpPr>
        <p:grpSpPr>
          <a:xfrm rot="0">
            <a:off x="12001807" y="3047897"/>
            <a:ext cx="2916436" cy="2691406"/>
            <a:chOff x="0" y="0"/>
            <a:chExt cx="768115" cy="708848"/>
          </a:xfrm>
        </p:grpSpPr>
        <p:sp>
          <p:nvSpPr>
            <p:cNvPr name="Freeform 19" id="19"/>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20" id="20"/>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21" id="21"/>
          <p:cNvSpPr txBox="true"/>
          <p:nvPr/>
        </p:nvSpPr>
        <p:spPr>
          <a:xfrm rot="0">
            <a:off x="12317961" y="3307750"/>
            <a:ext cx="2284128" cy="16733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Study resources are scattered across multiple websites and platforms.</a:t>
            </a:r>
          </a:p>
        </p:txBody>
      </p:sp>
      <p:grpSp>
        <p:nvGrpSpPr>
          <p:cNvPr name="Group 22" id="22"/>
          <p:cNvGrpSpPr/>
          <p:nvPr/>
        </p:nvGrpSpPr>
        <p:grpSpPr>
          <a:xfrm rot="0">
            <a:off x="9686965" y="3062481"/>
            <a:ext cx="1905681" cy="2676822"/>
            <a:chOff x="0" y="0"/>
            <a:chExt cx="501908" cy="705007"/>
          </a:xfrm>
        </p:grpSpPr>
        <p:sp>
          <p:nvSpPr>
            <p:cNvPr name="Freeform 23" id="23"/>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24" id="24"/>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25" id="25"/>
          <p:cNvSpPr txBox="true"/>
          <p:nvPr/>
        </p:nvSpPr>
        <p:spPr>
          <a:xfrm rot="0">
            <a:off x="10127366" y="3801446"/>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2</a:t>
            </a:r>
          </a:p>
        </p:txBody>
      </p:sp>
      <p:grpSp>
        <p:nvGrpSpPr>
          <p:cNvPr name="Group 26" id="26"/>
          <p:cNvGrpSpPr/>
          <p:nvPr/>
        </p:nvGrpSpPr>
        <p:grpSpPr>
          <a:xfrm rot="0">
            <a:off x="5684600" y="6011905"/>
            <a:ext cx="2916436" cy="2691406"/>
            <a:chOff x="0" y="0"/>
            <a:chExt cx="768115" cy="708848"/>
          </a:xfrm>
        </p:grpSpPr>
        <p:sp>
          <p:nvSpPr>
            <p:cNvPr name="Freeform 27" id="27"/>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28" id="28"/>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29" id="29"/>
          <p:cNvSpPr txBox="true"/>
          <p:nvPr/>
        </p:nvSpPr>
        <p:spPr>
          <a:xfrm rot="0">
            <a:off x="6000754" y="6271759"/>
            <a:ext cx="2284128" cy="16733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Last-minute revision becomes difficult without organized notes.</a:t>
            </a:r>
          </a:p>
        </p:txBody>
      </p:sp>
      <p:grpSp>
        <p:nvGrpSpPr>
          <p:cNvPr name="Group 30" id="30"/>
          <p:cNvGrpSpPr/>
          <p:nvPr/>
        </p:nvGrpSpPr>
        <p:grpSpPr>
          <a:xfrm rot="0">
            <a:off x="3369757" y="6026490"/>
            <a:ext cx="1905681" cy="2676822"/>
            <a:chOff x="0" y="0"/>
            <a:chExt cx="501908" cy="705007"/>
          </a:xfrm>
        </p:grpSpPr>
        <p:sp>
          <p:nvSpPr>
            <p:cNvPr name="Freeform 31" id="31"/>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32" id="32"/>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33" id="33"/>
          <p:cNvSpPr txBox="true"/>
          <p:nvPr/>
        </p:nvSpPr>
        <p:spPr>
          <a:xfrm rot="0">
            <a:off x="3810159" y="6765455"/>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3</a:t>
            </a:r>
          </a:p>
        </p:txBody>
      </p:sp>
      <p:grpSp>
        <p:nvGrpSpPr>
          <p:cNvPr name="Group 34" id="34"/>
          <p:cNvGrpSpPr/>
          <p:nvPr/>
        </p:nvGrpSpPr>
        <p:grpSpPr>
          <a:xfrm rot="0">
            <a:off x="12001807" y="6011905"/>
            <a:ext cx="2916436" cy="2691406"/>
            <a:chOff x="0" y="0"/>
            <a:chExt cx="768115" cy="708848"/>
          </a:xfrm>
        </p:grpSpPr>
        <p:sp>
          <p:nvSpPr>
            <p:cNvPr name="Freeform 35" id="35"/>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36" id="36"/>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37" id="37"/>
          <p:cNvSpPr txBox="true"/>
          <p:nvPr/>
        </p:nvSpPr>
        <p:spPr>
          <a:xfrm rot="0">
            <a:off x="12317961" y="6271759"/>
            <a:ext cx="2284128" cy="20924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Many students struggle to identify important topics from lengthy materials.</a:t>
            </a:r>
          </a:p>
        </p:txBody>
      </p:sp>
      <p:grpSp>
        <p:nvGrpSpPr>
          <p:cNvPr name="Group 38" id="38"/>
          <p:cNvGrpSpPr/>
          <p:nvPr/>
        </p:nvGrpSpPr>
        <p:grpSpPr>
          <a:xfrm rot="0">
            <a:off x="9686965" y="6026490"/>
            <a:ext cx="1905681" cy="2676822"/>
            <a:chOff x="0" y="0"/>
            <a:chExt cx="501908" cy="705007"/>
          </a:xfrm>
        </p:grpSpPr>
        <p:sp>
          <p:nvSpPr>
            <p:cNvPr name="Freeform 39" id="39"/>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40" id="40"/>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41" id="41"/>
          <p:cNvSpPr txBox="true"/>
          <p:nvPr/>
        </p:nvSpPr>
        <p:spPr>
          <a:xfrm rot="0">
            <a:off x="10127366" y="6765455"/>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4</a:t>
            </a:r>
          </a:p>
        </p:txBody>
      </p:sp>
      <p:sp>
        <p:nvSpPr>
          <p:cNvPr name="TextBox 42" id="42"/>
          <p:cNvSpPr txBox="true"/>
          <p:nvPr/>
        </p:nvSpPr>
        <p:spPr>
          <a:xfrm rot="0">
            <a:off x="1028700" y="9227975"/>
            <a:ext cx="2933362" cy="321755"/>
          </a:xfrm>
          <a:prstGeom prst="rect">
            <a:avLst/>
          </a:prstGeom>
        </p:spPr>
        <p:txBody>
          <a:bodyPr anchor="t" rtlCol="false" tIns="0" lIns="0" bIns="0" rIns="0">
            <a:spAutoFit/>
          </a:bodyPr>
          <a:lstStyle/>
          <a:p>
            <a:pPr algn="l" marL="0" indent="0" lvl="0">
              <a:lnSpc>
                <a:spcPts val="2605"/>
              </a:lnSpc>
            </a:pPr>
            <a:r>
              <a:rPr lang="en-US" b="true" sz="1861">
                <a:solidFill>
                  <a:srgbClr val="026263"/>
                </a:solidFill>
                <a:latin typeface="DM Sans Bold"/>
                <a:ea typeface="DM Sans Bold"/>
                <a:cs typeface="DM Sans Bold"/>
                <a:sym typeface="DM Sans Bold"/>
              </a:rPr>
              <a:t>AI Study Notes Generator</a:t>
            </a:r>
          </a:p>
        </p:txBody>
      </p:sp>
      <p:sp>
        <p:nvSpPr>
          <p:cNvPr name="AutoShape 43" id="43"/>
          <p:cNvSpPr/>
          <p:nvPr/>
        </p:nvSpPr>
        <p:spPr>
          <a:xfrm>
            <a:off x="3683318" y="9455470"/>
            <a:ext cx="7977806" cy="0"/>
          </a:xfrm>
          <a:prstGeom prst="line">
            <a:avLst/>
          </a:prstGeom>
          <a:ln cap="flat" w="19050">
            <a:solidFill>
              <a:srgbClr val="026263"/>
            </a:solidFill>
            <a:prstDash val="solid"/>
            <a:headEnd type="none" len="sm" w="sm"/>
            <a:tailEnd type="oval" len="lg" w="lg"/>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875812" y="5692375"/>
            <a:ext cx="10999339" cy="5631662"/>
          </a:xfrm>
          <a:custGeom>
            <a:avLst/>
            <a:gdLst/>
            <a:ahLst/>
            <a:cxnLst/>
            <a:rect r="r" b="b" t="t" l="l"/>
            <a:pathLst>
              <a:path h="5631662" w="10999339">
                <a:moveTo>
                  <a:pt x="0" y="0"/>
                </a:moveTo>
                <a:lnTo>
                  <a:pt x="10999339" y="0"/>
                </a:lnTo>
                <a:lnTo>
                  <a:pt x="10999339" y="5631662"/>
                </a:lnTo>
                <a:lnTo>
                  <a:pt x="0" y="5631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587151" y="-1037037"/>
            <a:ext cx="10999339" cy="5631662"/>
          </a:xfrm>
          <a:custGeom>
            <a:avLst/>
            <a:gdLst/>
            <a:ahLst/>
            <a:cxnLst/>
            <a:rect r="r" b="b" t="t" l="l"/>
            <a:pathLst>
              <a:path h="5631662" w="10999339">
                <a:moveTo>
                  <a:pt x="10999339" y="5631662"/>
                </a:moveTo>
                <a:lnTo>
                  <a:pt x="0" y="5631662"/>
                </a:lnTo>
                <a:lnTo>
                  <a:pt x="0" y="0"/>
                </a:lnTo>
                <a:lnTo>
                  <a:pt x="10999339" y="0"/>
                </a:lnTo>
                <a:lnTo>
                  <a:pt x="10999339" y="563166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008145" y="4110038"/>
            <a:ext cx="5152455" cy="8237937"/>
          </a:xfrm>
          <a:custGeom>
            <a:avLst/>
            <a:gdLst/>
            <a:ahLst/>
            <a:cxnLst/>
            <a:rect r="r" b="b" t="t" l="l"/>
            <a:pathLst>
              <a:path h="8237937" w="5152455">
                <a:moveTo>
                  <a:pt x="5152455" y="0"/>
                </a:moveTo>
                <a:lnTo>
                  <a:pt x="0" y="0"/>
                </a:lnTo>
                <a:lnTo>
                  <a:pt x="0" y="8237937"/>
                </a:lnTo>
                <a:lnTo>
                  <a:pt x="5152455" y="8237937"/>
                </a:lnTo>
                <a:lnTo>
                  <a:pt x="51524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3889831" y="-2340175"/>
            <a:ext cx="5152455" cy="8237937"/>
          </a:xfrm>
          <a:custGeom>
            <a:avLst/>
            <a:gdLst/>
            <a:ahLst/>
            <a:cxnLst/>
            <a:rect r="r" b="b" t="t" l="l"/>
            <a:pathLst>
              <a:path h="8237937" w="5152455">
                <a:moveTo>
                  <a:pt x="0" y="8237937"/>
                </a:moveTo>
                <a:lnTo>
                  <a:pt x="5152455" y="8237937"/>
                </a:lnTo>
                <a:lnTo>
                  <a:pt x="5152455" y="0"/>
                </a:lnTo>
                <a:lnTo>
                  <a:pt x="0" y="0"/>
                </a:lnTo>
                <a:lnTo>
                  <a:pt x="0" y="823793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400000">
            <a:off x="16457134" y="3902331"/>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5400000">
            <a:off x="226534" y="5737959"/>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962062" y="2020472"/>
            <a:ext cx="10363876" cy="1055709"/>
          </a:xfrm>
          <a:prstGeom prst="rect">
            <a:avLst/>
          </a:prstGeom>
        </p:spPr>
        <p:txBody>
          <a:bodyPr anchor="t" rtlCol="false" tIns="0" lIns="0" bIns="0" rIns="0">
            <a:spAutoFit/>
          </a:bodyPr>
          <a:lstStyle/>
          <a:p>
            <a:pPr algn="ctr" marL="0" indent="0" lvl="0">
              <a:lnSpc>
                <a:spcPts val="8305"/>
              </a:lnSpc>
            </a:pPr>
            <a:r>
              <a:rPr lang="en-US" b="true" sz="5932">
                <a:solidFill>
                  <a:srgbClr val="026263"/>
                </a:solidFill>
                <a:latin typeface="Helios Extended Bold"/>
                <a:ea typeface="Helios Extended Bold"/>
                <a:cs typeface="Helios Extended Bold"/>
                <a:sym typeface="Helios Extended Bold"/>
              </a:rPr>
              <a:t>PROPOSED SOLUTION</a:t>
            </a:r>
          </a:p>
        </p:txBody>
      </p:sp>
      <p:grpSp>
        <p:nvGrpSpPr>
          <p:cNvPr name="Group 10" id="10"/>
          <p:cNvGrpSpPr/>
          <p:nvPr/>
        </p:nvGrpSpPr>
        <p:grpSpPr>
          <a:xfrm rot="0">
            <a:off x="4179124" y="3637081"/>
            <a:ext cx="4754545" cy="4477047"/>
            <a:chOff x="0" y="0"/>
            <a:chExt cx="1252226" cy="1179140"/>
          </a:xfrm>
        </p:grpSpPr>
        <p:sp>
          <p:nvSpPr>
            <p:cNvPr name="Freeform 11" id="11"/>
            <p:cNvSpPr/>
            <p:nvPr/>
          </p:nvSpPr>
          <p:spPr>
            <a:xfrm flipH="false" flipV="false" rot="0">
              <a:off x="0" y="0"/>
              <a:ext cx="1252226" cy="1179140"/>
            </a:xfrm>
            <a:custGeom>
              <a:avLst/>
              <a:gdLst/>
              <a:ahLst/>
              <a:cxnLst/>
              <a:rect r="r" b="b" t="t" l="l"/>
              <a:pathLst>
                <a:path h="1179140" w="1252226">
                  <a:moveTo>
                    <a:pt x="63504" y="0"/>
                  </a:moveTo>
                  <a:lnTo>
                    <a:pt x="1188721" y="0"/>
                  </a:lnTo>
                  <a:cubicBezTo>
                    <a:pt x="1205564" y="0"/>
                    <a:pt x="1221716" y="6691"/>
                    <a:pt x="1233626" y="18600"/>
                  </a:cubicBezTo>
                  <a:cubicBezTo>
                    <a:pt x="1245535" y="30509"/>
                    <a:pt x="1252226" y="46662"/>
                    <a:pt x="1252226" y="63504"/>
                  </a:cubicBezTo>
                  <a:lnTo>
                    <a:pt x="1252226" y="1115635"/>
                  </a:lnTo>
                  <a:cubicBezTo>
                    <a:pt x="1252226" y="1150708"/>
                    <a:pt x="1223794" y="1179140"/>
                    <a:pt x="1188721" y="1179140"/>
                  </a:cubicBezTo>
                  <a:lnTo>
                    <a:pt x="63504" y="1179140"/>
                  </a:lnTo>
                  <a:cubicBezTo>
                    <a:pt x="28432" y="1179140"/>
                    <a:pt x="0" y="1150708"/>
                    <a:pt x="0" y="1115635"/>
                  </a:cubicBezTo>
                  <a:lnTo>
                    <a:pt x="0" y="63504"/>
                  </a:lnTo>
                  <a:cubicBezTo>
                    <a:pt x="0" y="28432"/>
                    <a:pt x="28432" y="0"/>
                    <a:pt x="63504" y="0"/>
                  </a:cubicBezTo>
                  <a:close/>
                </a:path>
              </a:pathLst>
            </a:custGeom>
            <a:ln w="38100" cap="rnd">
              <a:solidFill>
                <a:srgbClr val="026263"/>
              </a:solidFill>
              <a:prstDash val="solid"/>
              <a:round/>
            </a:ln>
          </p:spPr>
        </p:sp>
        <p:sp>
          <p:nvSpPr>
            <p:cNvPr name="TextBox 12" id="12"/>
            <p:cNvSpPr txBox="true"/>
            <p:nvPr/>
          </p:nvSpPr>
          <p:spPr>
            <a:xfrm>
              <a:off x="0" y="-85725"/>
              <a:ext cx="1252226" cy="1264865"/>
            </a:xfrm>
            <a:prstGeom prst="rect">
              <a:avLst/>
            </a:prstGeom>
          </p:spPr>
          <p:txBody>
            <a:bodyPr anchor="ctr" rtlCol="false" tIns="50800" lIns="50800" bIns="50800" rIns="50800"/>
            <a:lstStyle/>
            <a:p>
              <a:pPr algn="ctr" marL="0" indent="0" lvl="0">
                <a:lnSpc>
                  <a:spcPts val="2659"/>
                </a:lnSpc>
              </a:pPr>
            </a:p>
          </p:txBody>
        </p:sp>
      </p:grpSp>
      <p:sp>
        <p:nvSpPr>
          <p:cNvPr name="TextBox 13" id="13"/>
          <p:cNvSpPr txBox="true"/>
          <p:nvPr/>
        </p:nvSpPr>
        <p:spPr>
          <a:xfrm rot="0">
            <a:off x="4555603" y="3989654"/>
            <a:ext cx="4046253" cy="3498568"/>
          </a:xfrm>
          <a:prstGeom prst="rect">
            <a:avLst/>
          </a:prstGeom>
        </p:spPr>
        <p:txBody>
          <a:bodyPr anchor="t" rtlCol="false" tIns="0" lIns="0" bIns="0" rIns="0">
            <a:spAutoFit/>
          </a:bodyPr>
          <a:lstStyle/>
          <a:p>
            <a:pPr algn="l" marL="0" indent="0" lvl="0">
              <a:lnSpc>
                <a:spcPts val="3515"/>
              </a:lnSpc>
            </a:pPr>
            <a:r>
              <a:rPr lang="en-US" sz="2511">
                <a:solidFill>
                  <a:srgbClr val="026263"/>
                </a:solidFill>
                <a:latin typeface="Iffat"/>
                <a:ea typeface="Iffat"/>
                <a:cs typeface="Iffat"/>
                <a:sym typeface="Iffat"/>
              </a:rPr>
              <a:t>AI Study Notes Generator creates concise, exam-ready notes from any topic entered by the student. Simply input a subject or chapter, and our AI system instantly generates structured, easy-to-understand study material tailored for academic success.</a:t>
            </a:r>
          </a:p>
        </p:txBody>
      </p:sp>
      <p:grpSp>
        <p:nvGrpSpPr>
          <p:cNvPr name="Group 14" id="14"/>
          <p:cNvGrpSpPr/>
          <p:nvPr/>
        </p:nvGrpSpPr>
        <p:grpSpPr>
          <a:xfrm rot="0">
            <a:off x="1864282" y="3651665"/>
            <a:ext cx="1905681" cy="2096094"/>
            <a:chOff x="0" y="0"/>
            <a:chExt cx="501908" cy="552058"/>
          </a:xfrm>
        </p:grpSpPr>
        <p:sp>
          <p:nvSpPr>
            <p:cNvPr name="Freeform 15" id="15"/>
            <p:cNvSpPr/>
            <p:nvPr/>
          </p:nvSpPr>
          <p:spPr>
            <a:xfrm flipH="false" flipV="false" rot="0">
              <a:off x="0" y="0"/>
              <a:ext cx="501908" cy="552058"/>
            </a:xfrm>
            <a:custGeom>
              <a:avLst/>
              <a:gdLst/>
              <a:ahLst/>
              <a:cxnLst/>
              <a:rect r="r" b="b" t="t" l="l"/>
              <a:pathLst>
                <a:path h="552058" w="501908">
                  <a:moveTo>
                    <a:pt x="158439" y="0"/>
                  </a:moveTo>
                  <a:lnTo>
                    <a:pt x="343468" y="0"/>
                  </a:lnTo>
                  <a:cubicBezTo>
                    <a:pt x="430972" y="0"/>
                    <a:pt x="501908" y="70936"/>
                    <a:pt x="501908" y="158439"/>
                  </a:cubicBezTo>
                  <a:lnTo>
                    <a:pt x="501908" y="393618"/>
                  </a:lnTo>
                  <a:cubicBezTo>
                    <a:pt x="501908" y="435639"/>
                    <a:pt x="485215" y="475939"/>
                    <a:pt x="455502" y="505652"/>
                  </a:cubicBezTo>
                  <a:cubicBezTo>
                    <a:pt x="425789" y="535365"/>
                    <a:pt x="385489" y="552058"/>
                    <a:pt x="343468" y="552058"/>
                  </a:cubicBezTo>
                  <a:lnTo>
                    <a:pt x="158439" y="552058"/>
                  </a:lnTo>
                  <a:cubicBezTo>
                    <a:pt x="116419" y="552058"/>
                    <a:pt x="76119" y="535365"/>
                    <a:pt x="46406" y="505652"/>
                  </a:cubicBezTo>
                  <a:cubicBezTo>
                    <a:pt x="16693" y="475939"/>
                    <a:pt x="0" y="435639"/>
                    <a:pt x="0" y="393618"/>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16" id="16"/>
            <p:cNvSpPr txBox="true"/>
            <p:nvPr/>
          </p:nvSpPr>
          <p:spPr>
            <a:xfrm>
              <a:off x="0" y="-85725"/>
              <a:ext cx="501908" cy="637783"/>
            </a:xfrm>
            <a:prstGeom prst="rect">
              <a:avLst/>
            </a:prstGeom>
          </p:spPr>
          <p:txBody>
            <a:bodyPr anchor="ctr" rtlCol="false" tIns="50800" lIns="50800" bIns="50800" rIns="50800"/>
            <a:lstStyle/>
            <a:p>
              <a:pPr algn="ctr" marL="0" indent="0" lvl="0">
                <a:lnSpc>
                  <a:spcPts val="2659"/>
                </a:lnSpc>
              </a:pPr>
            </a:p>
          </p:txBody>
        </p:sp>
      </p:grpSp>
      <p:sp>
        <p:nvSpPr>
          <p:cNvPr name="TextBox 17" id="17"/>
          <p:cNvSpPr txBox="true"/>
          <p:nvPr/>
        </p:nvSpPr>
        <p:spPr>
          <a:xfrm rot="0">
            <a:off x="2302171" y="4018612"/>
            <a:ext cx="1024878" cy="1008624"/>
          </a:xfrm>
          <a:prstGeom prst="rect">
            <a:avLst/>
          </a:prstGeom>
        </p:spPr>
        <p:txBody>
          <a:bodyPr anchor="t" rtlCol="false" tIns="0" lIns="0" bIns="0" rIns="0">
            <a:spAutoFit/>
          </a:bodyPr>
          <a:lstStyle/>
          <a:p>
            <a:pPr algn="ctr" marL="0" indent="0" lvl="0">
              <a:lnSpc>
                <a:spcPts val="7931"/>
              </a:lnSpc>
            </a:pPr>
            <a:r>
              <a:rPr lang="en-US" b="true" sz="5665">
                <a:solidFill>
                  <a:srgbClr val="DEDEDE"/>
                </a:solidFill>
                <a:latin typeface="Helios Extended Bold"/>
                <a:ea typeface="Helios Extended Bold"/>
                <a:cs typeface="Helios Extended Bold"/>
                <a:sym typeface="Helios Extended Bold"/>
              </a:rPr>
              <a:t>1</a:t>
            </a:r>
          </a:p>
        </p:txBody>
      </p:sp>
      <p:grpSp>
        <p:nvGrpSpPr>
          <p:cNvPr name="Group 18" id="18"/>
          <p:cNvGrpSpPr/>
          <p:nvPr/>
        </p:nvGrpSpPr>
        <p:grpSpPr>
          <a:xfrm rot="0">
            <a:off x="11669173" y="3637081"/>
            <a:ext cx="4754545" cy="4477047"/>
            <a:chOff x="0" y="0"/>
            <a:chExt cx="1252226" cy="1179140"/>
          </a:xfrm>
        </p:grpSpPr>
        <p:sp>
          <p:nvSpPr>
            <p:cNvPr name="Freeform 19" id="19"/>
            <p:cNvSpPr/>
            <p:nvPr/>
          </p:nvSpPr>
          <p:spPr>
            <a:xfrm flipH="false" flipV="false" rot="0">
              <a:off x="0" y="0"/>
              <a:ext cx="1252226" cy="1179140"/>
            </a:xfrm>
            <a:custGeom>
              <a:avLst/>
              <a:gdLst/>
              <a:ahLst/>
              <a:cxnLst/>
              <a:rect r="r" b="b" t="t" l="l"/>
              <a:pathLst>
                <a:path h="1179140" w="1252226">
                  <a:moveTo>
                    <a:pt x="63504" y="0"/>
                  </a:moveTo>
                  <a:lnTo>
                    <a:pt x="1188721" y="0"/>
                  </a:lnTo>
                  <a:cubicBezTo>
                    <a:pt x="1205564" y="0"/>
                    <a:pt x="1221716" y="6691"/>
                    <a:pt x="1233626" y="18600"/>
                  </a:cubicBezTo>
                  <a:cubicBezTo>
                    <a:pt x="1245535" y="30509"/>
                    <a:pt x="1252226" y="46662"/>
                    <a:pt x="1252226" y="63504"/>
                  </a:cubicBezTo>
                  <a:lnTo>
                    <a:pt x="1252226" y="1115635"/>
                  </a:lnTo>
                  <a:cubicBezTo>
                    <a:pt x="1252226" y="1150708"/>
                    <a:pt x="1223794" y="1179140"/>
                    <a:pt x="1188721" y="1179140"/>
                  </a:cubicBezTo>
                  <a:lnTo>
                    <a:pt x="63504" y="1179140"/>
                  </a:lnTo>
                  <a:cubicBezTo>
                    <a:pt x="28432" y="1179140"/>
                    <a:pt x="0" y="1150708"/>
                    <a:pt x="0" y="1115635"/>
                  </a:cubicBezTo>
                  <a:lnTo>
                    <a:pt x="0" y="63504"/>
                  </a:lnTo>
                  <a:cubicBezTo>
                    <a:pt x="0" y="28432"/>
                    <a:pt x="28432" y="0"/>
                    <a:pt x="63504" y="0"/>
                  </a:cubicBezTo>
                  <a:close/>
                </a:path>
              </a:pathLst>
            </a:custGeom>
            <a:ln w="38100" cap="rnd">
              <a:solidFill>
                <a:srgbClr val="026263"/>
              </a:solidFill>
              <a:prstDash val="solid"/>
              <a:round/>
            </a:ln>
          </p:spPr>
        </p:sp>
        <p:sp>
          <p:nvSpPr>
            <p:cNvPr name="TextBox 20" id="20"/>
            <p:cNvSpPr txBox="true"/>
            <p:nvPr/>
          </p:nvSpPr>
          <p:spPr>
            <a:xfrm>
              <a:off x="0" y="-85725"/>
              <a:ext cx="1252226" cy="1264865"/>
            </a:xfrm>
            <a:prstGeom prst="rect">
              <a:avLst/>
            </a:prstGeom>
          </p:spPr>
          <p:txBody>
            <a:bodyPr anchor="ctr" rtlCol="false" tIns="50800" lIns="50800" bIns="50800" rIns="50800"/>
            <a:lstStyle/>
            <a:p>
              <a:pPr algn="ctr" marL="0" indent="0" lvl="0">
                <a:lnSpc>
                  <a:spcPts val="2659"/>
                </a:lnSpc>
              </a:pPr>
            </a:p>
          </p:txBody>
        </p:sp>
      </p:grpSp>
      <p:sp>
        <p:nvSpPr>
          <p:cNvPr name="TextBox 21" id="21"/>
          <p:cNvSpPr txBox="true"/>
          <p:nvPr/>
        </p:nvSpPr>
        <p:spPr>
          <a:xfrm rot="0">
            <a:off x="12023319" y="3989654"/>
            <a:ext cx="4046253" cy="3060418"/>
          </a:xfrm>
          <a:prstGeom prst="rect">
            <a:avLst/>
          </a:prstGeom>
        </p:spPr>
        <p:txBody>
          <a:bodyPr anchor="t" rtlCol="false" tIns="0" lIns="0" bIns="0" rIns="0">
            <a:spAutoFit/>
          </a:bodyPr>
          <a:lstStyle/>
          <a:p>
            <a:pPr algn="l" marL="0" indent="0" lvl="0">
              <a:lnSpc>
                <a:spcPts val="3515"/>
              </a:lnSpc>
            </a:pPr>
            <a:r>
              <a:rPr lang="en-US" sz="2511">
                <a:solidFill>
                  <a:srgbClr val="026263"/>
                </a:solidFill>
                <a:latin typeface="Iffat"/>
                <a:ea typeface="Iffat"/>
                <a:cs typeface="Iffat"/>
                <a:sym typeface="Iffat"/>
              </a:rPr>
              <a:t>Workflow:</a:t>
            </a:r>
          </a:p>
          <a:p>
            <a:pPr algn="l" marL="0" indent="0" lvl="0">
              <a:lnSpc>
                <a:spcPts val="3515"/>
              </a:lnSpc>
            </a:pPr>
            <a:r>
              <a:rPr lang="en-US" sz="2511">
                <a:solidFill>
                  <a:srgbClr val="026263"/>
                </a:solidFill>
                <a:latin typeface="Iffat"/>
                <a:ea typeface="Iffat"/>
                <a:cs typeface="Iffat"/>
                <a:sym typeface="Iffat"/>
              </a:rPr>
              <a:t>Topic Input → AI Processing → Structured Notes → Revision</a:t>
            </a:r>
          </a:p>
          <a:p>
            <a:pPr algn="l" marL="0" indent="0" lvl="0">
              <a:lnSpc>
                <a:spcPts val="3515"/>
              </a:lnSpc>
            </a:pPr>
            <a:r>
              <a:rPr lang="en-US" sz="2511">
                <a:solidFill>
                  <a:srgbClr val="026263"/>
                </a:solidFill>
                <a:latin typeface="Iffat"/>
                <a:ea typeface="Iffat"/>
                <a:cs typeface="Iffat"/>
                <a:sym typeface="Iffat"/>
              </a:rPr>
              <a:t>The system follows a simple four-step process to deliver personalized study notes quickly and efficiently.</a:t>
            </a:r>
          </a:p>
        </p:txBody>
      </p:sp>
      <p:grpSp>
        <p:nvGrpSpPr>
          <p:cNvPr name="Group 22" id="22"/>
          <p:cNvGrpSpPr/>
          <p:nvPr/>
        </p:nvGrpSpPr>
        <p:grpSpPr>
          <a:xfrm rot="0">
            <a:off x="9354331" y="3651665"/>
            <a:ext cx="1905681" cy="2096094"/>
            <a:chOff x="0" y="0"/>
            <a:chExt cx="501908" cy="552058"/>
          </a:xfrm>
        </p:grpSpPr>
        <p:sp>
          <p:nvSpPr>
            <p:cNvPr name="Freeform 23" id="23"/>
            <p:cNvSpPr/>
            <p:nvPr/>
          </p:nvSpPr>
          <p:spPr>
            <a:xfrm flipH="false" flipV="false" rot="0">
              <a:off x="0" y="0"/>
              <a:ext cx="501908" cy="552058"/>
            </a:xfrm>
            <a:custGeom>
              <a:avLst/>
              <a:gdLst/>
              <a:ahLst/>
              <a:cxnLst/>
              <a:rect r="r" b="b" t="t" l="l"/>
              <a:pathLst>
                <a:path h="552058" w="501908">
                  <a:moveTo>
                    <a:pt x="158439" y="0"/>
                  </a:moveTo>
                  <a:lnTo>
                    <a:pt x="343468" y="0"/>
                  </a:lnTo>
                  <a:cubicBezTo>
                    <a:pt x="430972" y="0"/>
                    <a:pt x="501908" y="70936"/>
                    <a:pt x="501908" y="158439"/>
                  </a:cubicBezTo>
                  <a:lnTo>
                    <a:pt x="501908" y="393618"/>
                  </a:lnTo>
                  <a:cubicBezTo>
                    <a:pt x="501908" y="435639"/>
                    <a:pt x="485215" y="475939"/>
                    <a:pt x="455502" y="505652"/>
                  </a:cubicBezTo>
                  <a:cubicBezTo>
                    <a:pt x="425789" y="535365"/>
                    <a:pt x="385489" y="552058"/>
                    <a:pt x="343468" y="552058"/>
                  </a:cubicBezTo>
                  <a:lnTo>
                    <a:pt x="158439" y="552058"/>
                  </a:lnTo>
                  <a:cubicBezTo>
                    <a:pt x="116419" y="552058"/>
                    <a:pt x="76119" y="535365"/>
                    <a:pt x="46406" y="505652"/>
                  </a:cubicBezTo>
                  <a:cubicBezTo>
                    <a:pt x="16693" y="475939"/>
                    <a:pt x="0" y="435639"/>
                    <a:pt x="0" y="393618"/>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24" id="24"/>
            <p:cNvSpPr txBox="true"/>
            <p:nvPr/>
          </p:nvSpPr>
          <p:spPr>
            <a:xfrm>
              <a:off x="0" y="-85725"/>
              <a:ext cx="501908" cy="637783"/>
            </a:xfrm>
            <a:prstGeom prst="rect">
              <a:avLst/>
            </a:prstGeom>
          </p:spPr>
          <p:txBody>
            <a:bodyPr anchor="ctr" rtlCol="false" tIns="50800" lIns="50800" bIns="50800" rIns="50800"/>
            <a:lstStyle/>
            <a:p>
              <a:pPr algn="ctr" marL="0" indent="0" lvl="0">
                <a:lnSpc>
                  <a:spcPts val="2659"/>
                </a:lnSpc>
              </a:pPr>
            </a:p>
          </p:txBody>
        </p:sp>
      </p:grpSp>
      <p:sp>
        <p:nvSpPr>
          <p:cNvPr name="TextBox 25" id="25"/>
          <p:cNvSpPr txBox="true"/>
          <p:nvPr/>
        </p:nvSpPr>
        <p:spPr>
          <a:xfrm rot="0">
            <a:off x="9792220" y="4018612"/>
            <a:ext cx="1024878" cy="1008624"/>
          </a:xfrm>
          <a:prstGeom prst="rect">
            <a:avLst/>
          </a:prstGeom>
        </p:spPr>
        <p:txBody>
          <a:bodyPr anchor="t" rtlCol="false" tIns="0" lIns="0" bIns="0" rIns="0">
            <a:spAutoFit/>
          </a:bodyPr>
          <a:lstStyle/>
          <a:p>
            <a:pPr algn="ctr" marL="0" indent="0" lvl="0">
              <a:lnSpc>
                <a:spcPts val="7931"/>
              </a:lnSpc>
            </a:pPr>
            <a:r>
              <a:rPr lang="en-US" b="true" sz="5665">
                <a:solidFill>
                  <a:srgbClr val="DEDEDE"/>
                </a:solidFill>
                <a:latin typeface="Helios Extended Bold"/>
                <a:ea typeface="Helios Extended Bold"/>
                <a:cs typeface="Helios Extended Bold"/>
                <a:sym typeface="Helios Extended Bold"/>
              </a:rPr>
              <a:t>2</a:t>
            </a:r>
          </a:p>
        </p:txBody>
      </p:sp>
      <p:sp>
        <p:nvSpPr>
          <p:cNvPr name="TextBox 26" id="26"/>
          <p:cNvSpPr txBox="true"/>
          <p:nvPr/>
        </p:nvSpPr>
        <p:spPr>
          <a:xfrm rot="0">
            <a:off x="1028700" y="9227975"/>
            <a:ext cx="2933362" cy="378832"/>
          </a:xfrm>
          <a:prstGeom prst="rect">
            <a:avLst/>
          </a:prstGeom>
        </p:spPr>
        <p:txBody>
          <a:bodyPr anchor="t" rtlCol="false" tIns="0" lIns="0" bIns="0" rIns="0">
            <a:spAutoFit/>
          </a:bodyPr>
          <a:lstStyle/>
          <a:p>
            <a:pPr algn="l" marL="0" indent="0" lvl="0">
              <a:lnSpc>
                <a:spcPts val="3190"/>
              </a:lnSpc>
            </a:pPr>
            <a:r>
              <a:rPr lang="en-US" b="true" sz="2279">
                <a:solidFill>
                  <a:srgbClr val="026263"/>
                </a:solidFill>
                <a:latin typeface="DM Sans Bold"/>
                <a:ea typeface="DM Sans Bold"/>
                <a:cs typeface="DM Sans Bold"/>
                <a:sym typeface="DM Sans Bold"/>
              </a:rPr>
              <a:t>Presentation I 03</a:t>
            </a:r>
          </a:p>
        </p:txBody>
      </p:sp>
      <p:sp>
        <p:nvSpPr>
          <p:cNvPr name="AutoShape 27" id="27"/>
          <p:cNvSpPr/>
          <p:nvPr/>
        </p:nvSpPr>
        <p:spPr>
          <a:xfrm>
            <a:off x="3683318" y="9455470"/>
            <a:ext cx="7977806" cy="0"/>
          </a:xfrm>
          <a:prstGeom prst="line">
            <a:avLst/>
          </a:prstGeom>
          <a:ln cap="flat" w="19050">
            <a:solidFill>
              <a:srgbClr val="026263"/>
            </a:solidFill>
            <a:prstDash val="solid"/>
            <a:headEnd type="none" len="sm" w="sm"/>
            <a:tailEnd type="oval" len="lg" w="lg"/>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875812" y="5692375"/>
            <a:ext cx="10999339" cy="5631662"/>
          </a:xfrm>
          <a:custGeom>
            <a:avLst/>
            <a:gdLst/>
            <a:ahLst/>
            <a:cxnLst/>
            <a:rect r="r" b="b" t="t" l="l"/>
            <a:pathLst>
              <a:path h="5631662" w="10999339">
                <a:moveTo>
                  <a:pt x="0" y="0"/>
                </a:moveTo>
                <a:lnTo>
                  <a:pt x="10999339" y="0"/>
                </a:lnTo>
                <a:lnTo>
                  <a:pt x="10999339" y="5631662"/>
                </a:lnTo>
                <a:lnTo>
                  <a:pt x="0" y="5631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587151" y="-1037037"/>
            <a:ext cx="10999339" cy="5631662"/>
          </a:xfrm>
          <a:custGeom>
            <a:avLst/>
            <a:gdLst/>
            <a:ahLst/>
            <a:cxnLst/>
            <a:rect r="r" b="b" t="t" l="l"/>
            <a:pathLst>
              <a:path h="5631662" w="10999339">
                <a:moveTo>
                  <a:pt x="10999339" y="5631662"/>
                </a:moveTo>
                <a:lnTo>
                  <a:pt x="0" y="5631662"/>
                </a:lnTo>
                <a:lnTo>
                  <a:pt x="0" y="0"/>
                </a:lnTo>
                <a:lnTo>
                  <a:pt x="10999339" y="0"/>
                </a:lnTo>
                <a:lnTo>
                  <a:pt x="10999339" y="563166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008145" y="4110038"/>
            <a:ext cx="5152455" cy="8237937"/>
          </a:xfrm>
          <a:custGeom>
            <a:avLst/>
            <a:gdLst/>
            <a:ahLst/>
            <a:cxnLst/>
            <a:rect r="r" b="b" t="t" l="l"/>
            <a:pathLst>
              <a:path h="8237937" w="5152455">
                <a:moveTo>
                  <a:pt x="5152455" y="0"/>
                </a:moveTo>
                <a:lnTo>
                  <a:pt x="0" y="0"/>
                </a:lnTo>
                <a:lnTo>
                  <a:pt x="0" y="8237937"/>
                </a:lnTo>
                <a:lnTo>
                  <a:pt x="5152455" y="8237937"/>
                </a:lnTo>
                <a:lnTo>
                  <a:pt x="51524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3889831" y="-2340175"/>
            <a:ext cx="5152455" cy="8237937"/>
          </a:xfrm>
          <a:custGeom>
            <a:avLst/>
            <a:gdLst/>
            <a:ahLst/>
            <a:cxnLst/>
            <a:rect r="r" b="b" t="t" l="l"/>
            <a:pathLst>
              <a:path h="8237937" w="5152455">
                <a:moveTo>
                  <a:pt x="0" y="8237937"/>
                </a:moveTo>
                <a:lnTo>
                  <a:pt x="5152455" y="8237937"/>
                </a:lnTo>
                <a:lnTo>
                  <a:pt x="5152455" y="0"/>
                </a:lnTo>
                <a:lnTo>
                  <a:pt x="0" y="0"/>
                </a:lnTo>
                <a:lnTo>
                  <a:pt x="0" y="823793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400000">
            <a:off x="16457134" y="3902331"/>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5400000">
            <a:off x="226534" y="5737959"/>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962062" y="1393188"/>
            <a:ext cx="10363876" cy="1385818"/>
          </a:xfrm>
          <a:prstGeom prst="rect">
            <a:avLst/>
          </a:prstGeom>
        </p:spPr>
        <p:txBody>
          <a:bodyPr anchor="t" rtlCol="false" tIns="0" lIns="0" bIns="0" rIns="0">
            <a:spAutoFit/>
          </a:bodyPr>
          <a:lstStyle/>
          <a:p>
            <a:pPr algn="ctr" marL="0" indent="0" lvl="0">
              <a:lnSpc>
                <a:spcPts val="11018"/>
              </a:lnSpc>
            </a:pPr>
            <a:r>
              <a:rPr lang="en-US" b="true" sz="7870">
                <a:solidFill>
                  <a:srgbClr val="026263"/>
                </a:solidFill>
                <a:latin typeface="Helios Extended Bold"/>
                <a:ea typeface="Helios Extended Bold"/>
                <a:cs typeface="Helios Extended Bold"/>
                <a:sym typeface="Helios Extended Bold"/>
              </a:rPr>
              <a:t>OBJECTIVES</a:t>
            </a:r>
          </a:p>
        </p:txBody>
      </p:sp>
      <p:grpSp>
        <p:nvGrpSpPr>
          <p:cNvPr name="Group 10" id="10"/>
          <p:cNvGrpSpPr/>
          <p:nvPr/>
        </p:nvGrpSpPr>
        <p:grpSpPr>
          <a:xfrm rot="0">
            <a:off x="5684600" y="3047897"/>
            <a:ext cx="2916436" cy="2691406"/>
            <a:chOff x="0" y="0"/>
            <a:chExt cx="768115" cy="708848"/>
          </a:xfrm>
        </p:grpSpPr>
        <p:sp>
          <p:nvSpPr>
            <p:cNvPr name="Freeform 11" id="11"/>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12" id="12"/>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13" id="13"/>
          <p:cNvSpPr txBox="true"/>
          <p:nvPr/>
        </p:nvSpPr>
        <p:spPr>
          <a:xfrm rot="0">
            <a:off x="6000754" y="3317275"/>
            <a:ext cx="2284128" cy="1994368"/>
          </a:xfrm>
          <a:prstGeom prst="rect">
            <a:avLst/>
          </a:prstGeom>
        </p:spPr>
        <p:txBody>
          <a:bodyPr anchor="t" rtlCol="false" tIns="0" lIns="0" bIns="0" rIns="0">
            <a:spAutoFit/>
          </a:bodyPr>
          <a:lstStyle/>
          <a:p>
            <a:pPr algn="l" marL="0" indent="0" lvl="0">
              <a:lnSpc>
                <a:spcPts val="3999"/>
              </a:lnSpc>
            </a:pPr>
            <a:r>
              <a:rPr lang="en-US" sz="2856">
                <a:solidFill>
                  <a:srgbClr val="026263"/>
                </a:solidFill>
                <a:latin typeface="Iffat"/>
                <a:ea typeface="Iffat"/>
                <a:cs typeface="Iffat"/>
                <a:sym typeface="Iffat"/>
              </a:rPr>
              <a:t>Reduce note-making time significantly for students</a:t>
            </a:r>
          </a:p>
        </p:txBody>
      </p:sp>
      <p:grpSp>
        <p:nvGrpSpPr>
          <p:cNvPr name="Group 14" id="14"/>
          <p:cNvGrpSpPr/>
          <p:nvPr/>
        </p:nvGrpSpPr>
        <p:grpSpPr>
          <a:xfrm rot="0">
            <a:off x="3369757" y="3062481"/>
            <a:ext cx="1905681" cy="2676822"/>
            <a:chOff x="0" y="0"/>
            <a:chExt cx="501908" cy="705007"/>
          </a:xfrm>
        </p:grpSpPr>
        <p:sp>
          <p:nvSpPr>
            <p:cNvPr name="Freeform 15" id="15"/>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16" id="16"/>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17" id="17"/>
          <p:cNvSpPr txBox="true"/>
          <p:nvPr/>
        </p:nvSpPr>
        <p:spPr>
          <a:xfrm rot="0">
            <a:off x="3810159" y="3763346"/>
            <a:ext cx="1024878" cy="1150752"/>
          </a:xfrm>
          <a:prstGeom prst="rect">
            <a:avLst/>
          </a:prstGeom>
        </p:spPr>
        <p:txBody>
          <a:bodyPr anchor="t" rtlCol="false" tIns="0" lIns="0" bIns="0" rIns="0">
            <a:spAutoFit/>
          </a:bodyPr>
          <a:lstStyle/>
          <a:p>
            <a:pPr algn="ctr" marL="0" indent="0" lvl="0">
              <a:lnSpc>
                <a:spcPts val="9022"/>
              </a:lnSpc>
            </a:pPr>
            <a:r>
              <a:rPr lang="en-US" b="true" sz="6444">
                <a:solidFill>
                  <a:srgbClr val="DEDEDE"/>
                </a:solidFill>
                <a:latin typeface="Helios Extended Bold"/>
                <a:ea typeface="Helios Extended Bold"/>
                <a:cs typeface="Helios Extended Bold"/>
                <a:sym typeface="Helios Extended Bold"/>
              </a:rPr>
              <a:t>1</a:t>
            </a:r>
          </a:p>
        </p:txBody>
      </p:sp>
      <p:grpSp>
        <p:nvGrpSpPr>
          <p:cNvPr name="Group 18" id="18"/>
          <p:cNvGrpSpPr/>
          <p:nvPr/>
        </p:nvGrpSpPr>
        <p:grpSpPr>
          <a:xfrm rot="0">
            <a:off x="12001807" y="3047897"/>
            <a:ext cx="2916436" cy="2691406"/>
            <a:chOff x="0" y="0"/>
            <a:chExt cx="768115" cy="708848"/>
          </a:xfrm>
        </p:grpSpPr>
        <p:sp>
          <p:nvSpPr>
            <p:cNvPr name="Freeform 19" id="19"/>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20" id="20"/>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21" id="21"/>
          <p:cNvSpPr txBox="true"/>
          <p:nvPr/>
        </p:nvSpPr>
        <p:spPr>
          <a:xfrm rot="0">
            <a:off x="12317961" y="3317275"/>
            <a:ext cx="2284128" cy="1994368"/>
          </a:xfrm>
          <a:prstGeom prst="rect">
            <a:avLst/>
          </a:prstGeom>
        </p:spPr>
        <p:txBody>
          <a:bodyPr anchor="t" rtlCol="false" tIns="0" lIns="0" bIns="0" rIns="0">
            <a:spAutoFit/>
          </a:bodyPr>
          <a:lstStyle/>
          <a:p>
            <a:pPr algn="l" marL="0" indent="0" lvl="0">
              <a:lnSpc>
                <a:spcPts val="3999"/>
              </a:lnSpc>
            </a:pPr>
            <a:r>
              <a:rPr lang="en-US" sz="2856">
                <a:solidFill>
                  <a:srgbClr val="026263"/>
                </a:solidFill>
                <a:latin typeface="Iffat"/>
                <a:ea typeface="Iffat"/>
                <a:cs typeface="Iffat"/>
                <a:sym typeface="Iffat"/>
              </a:rPr>
              <a:t>Provide quick revision material for effective studying</a:t>
            </a:r>
          </a:p>
        </p:txBody>
      </p:sp>
      <p:grpSp>
        <p:nvGrpSpPr>
          <p:cNvPr name="Group 22" id="22"/>
          <p:cNvGrpSpPr/>
          <p:nvPr/>
        </p:nvGrpSpPr>
        <p:grpSpPr>
          <a:xfrm rot="0">
            <a:off x="9686965" y="3062481"/>
            <a:ext cx="1905681" cy="2676822"/>
            <a:chOff x="0" y="0"/>
            <a:chExt cx="501908" cy="705007"/>
          </a:xfrm>
        </p:grpSpPr>
        <p:sp>
          <p:nvSpPr>
            <p:cNvPr name="Freeform 23" id="23"/>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24" id="24"/>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25" id="25"/>
          <p:cNvSpPr txBox="true"/>
          <p:nvPr/>
        </p:nvSpPr>
        <p:spPr>
          <a:xfrm rot="0">
            <a:off x="10127366" y="3763346"/>
            <a:ext cx="1024878" cy="1150752"/>
          </a:xfrm>
          <a:prstGeom prst="rect">
            <a:avLst/>
          </a:prstGeom>
        </p:spPr>
        <p:txBody>
          <a:bodyPr anchor="t" rtlCol="false" tIns="0" lIns="0" bIns="0" rIns="0">
            <a:spAutoFit/>
          </a:bodyPr>
          <a:lstStyle/>
          <a:p>
            <a:pPr algn="ctr" marL="0" indent="0" lvl="0">
              <a:lnSpc>
                <a:spcPts val="9022"/>
              </a:lnSpc>
            </a:pPr>
            <a:r>
              <a:rPr lang="en-US" b="true" sz="6444">
                <a:solidFill>
                  <a:srgbClr val="DEDEDE"/>
                </a:solidFill>
                <a:latin typeface="Helios Extended Bold"/>
                <a:ea typeface="Helios Extended Bold"/>
                <a:cs typeface="Helios Extended Bold"/>
                <a:sym typeface="Helios Extended Bold"/>
              </a:rPr>
              <a:t>2</a:t>
            </a:r>
          </a:p>
        </p:txBody>
      </p:sp>
      <p:grpSp>
        <p:nvGrpSpPr>
          <p:cNvPr name="Group 26" id="26"/>
          <p:cNvGrpSpPr/>
          <p:nvPr/>
        </p:nvGrpSpPr>
        <p:grpSpPr>
          <a:xfrm rot="0">
            <a:off x="5684600" y="6011905"/>
            <a:ext cx="2916436" cy="2691406"/>
            <a:chOff x="0" y="0"/>
            <a:chExt cx="768115" cy="708848"/>
          </a:xfrm>
        </p:grpSpPr>
        <p:sp>
          <p:nvSpPr>
            <p:cNvPr name="Freeform 27" id="27"/>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28" id="28"/>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29" id="29"/>
          <p:cNvSpPr txBox="true"/>
          <p:nvPr/>
        </p:nvSpPr>
        <p:spPr>
          <a:xfrm rot="0">
            <a:off x="6000754" y="6281284"/>
            <a:ext cx="2284128" cy="1994368"/>
          </a:xfrm>
          <a:prstGeom prst="rect">
            <a:avLst/>
          </a:prstGeom>
        </p:spPr>
        <p:txBody>
          <a:bodyPr anchor="t" rtlCol="false" tIns="0" lIns="0" bIns="0" rIns="0">
            <a:spAutoFit/>
          </a:bodyPr>
          <a:lstStyle/>
          <a:p>
            <a:pPr algn="l" marL="0" indent="0" lvl="0">
              <a:lnSpc>
                <a:spcPts val="3999"/>
              </a:lnSpc>
            </a:pPr>
            <a:r>
              <a:rPr lang="en-US" sz="2856">
                <a:solidFill>
                  <a:srgbClr val="026263"/>
                </a:solidFill>
                <a:latin typeface="Iffat"/>
                <a:ea typeface="Iffat"/>
                <a:cs typeface="Iffat"/>
                <a:sym typeface="Iffat"/>
              </a:rPr>
              <a:t>Simplify learning for students with structured content</a:t>
            </a:r>
          </a:p>
        </p:txBody>
      </p:sp>
      <p:grpSp>
        <p:nvGrpSpPr>
          <p:cNvPr name="Group 30" id="30"/>
          <p:cNvGrpSpPr/>
          <p:nvPr/>
        </p:nvGrpSpPr>
        <p:grpSpPr>
          <a:xfrm rot="0">
            <a:off x="3369757" y="6026490"/>
            <a:ext cx="1905681" cy="2676822"/>
            <a:chOff x="0" y="0"/>
            <a:chExt cx="501908" cy="705007"/>
          </a:xfrm>
        </p:grpSpPr>
        <p:sp>
          <p:nvSpPr>
            <p:cNvPr name="Freeform 31" id="31"/>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32" id="32"/>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33" id="33"/>
          <p:cNvSpPr txBox="true"/>
          <p:nvPr/>
        </p:nvSpPr>
        <p:spPr>
          <a:xfrm rot="0">
            <a:off x="3810159" y="6727355"/>
            <a:ext cx="1024878" cy="1150752"/>
          </a:xfrm>
          <a:prstGeom prst="rect">
            <a:avLst/>
          </a:prstGeom>
        </p:spPr>
        <p:txBody>
          <a:bodyPr anchor="t" rtlCol="false" tIns="0" lIns="0" bIns="0" rIns="0">
            <a:spAutoFit/>
          </a:bodyPr>
          <a:lstStyle/>
          <a:p>
            <a:pPr algn="ctr" marL="0" indent="0" lvl="0">
              <a:lnSpc>
                <a:spcPts val="9022"/>
              </a:lnSpc>
            </a:pPr>
            <a:r>
              <a:rPr lang="en-US" b="true" sz="6444">
                <a:solidFill>
                  <a:srgbClr val="DEDEDE"/>
                </a:solidFill>
                <a:latin typeface="Helios Extended Bold"/>
                <a:ea typeface="Helios Extended Bold"/>
                <a:cs typeface="Helios Extended Bold"/>
                <a:sym typeface="Helios Extended Bold"/>
              </a:rPr>
              <a:t>3</a:t>
            </a:r>
          </a:p>
        </p:txBody>
      </p:sp>
      <p:grpSp>
        <p:nvGrpSpPr>
          <p:cNvPr name="Group 34" id="34"/>
          <p:cNvGrpSpPr/>
          <p:nvPr/>
        </p:nvGrpSpPr>
        <p:grpSpPr>
          <a:xfrm rot="0">
            <a:off x="12001807" y="6011905"/>
            <a:ext cx="2916436" cy="2691406"/>
            <a:chOff x="0" y="0"/>
            <a:chExt cx="768115" cy="708848"/>
          </a:xfrm>
        </p:grpSpPr>
        <p:sp>
          <p:nvSpPr>
            <p:cNvPr name="Freeform 35" id="35"/>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36" id="36"/>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37" id="37"/>
          <p:cNvSpPr txBox="true"/>
          <p:nvPr/>
        </p:nvSpPr>
        <p:spPr>
          <a:xfrm rot="0">
            <a:off x="12317961" y="6281284"/>
            <a:ext cx="2284128" cy="1489543"/>
          </a:xfrm>
          <a:prstGeom prst="rect">
            <a:avLst/>
          </a:prstGeom>
        </p:spPr>
        <p:txBody>
          <a:bodyPr anchor="t" rtlCol="false" tIns="0" lIns="0" bIns="0" rIns="0">
            <a:spAutoFit/>
          </a:bodyPr>
          <a:lstStyle/>
          <a:p>
            <a:pPr algn="l" marL="0" indent="0" lvl="0">
              <a:lnSpc>
                <a:spcPts val="3999"/>
              </a:lnSpc>
            </a:pPr>
            <a:r>
              <a:rPr lang="en-US" sz="2856">
                <a:solidFill>
                  <a:srgbClr val="026263"/>
                </a:solidFill>
                <a:latin typeface="Iffat"/>
                <a:ea typeface="Iffat"/>
                <a:cs typeface="Iffat"/>
                <a:sym typeface="Iffat"/>
              </a:rPr>
              <a:t>Improve exam preparation efficiency</a:t>
            </a:r>
          </a:p>
        </p:txBody>
      </p:sp>
      <p:grpSp>
        <p:nvGrpSpPr>
          <p:cNvPr name="Group 38" id="38"/>
          <p:cNvGrpSpPr/>
          <p:nvPr/>
        </p:nvGrpSpPr>
        <p:grpSpPr>
          <a:xfrm rot="0">
            <a:off x="9686965" y="6026490"/>
            <a:ext cx="1905681" cy="2676822"/>
            <a:chOff x="0" y="0"/>
            <a:chExt cx="501908" cy="705007"/>
          </a:xfrm>
        </p:grpSpPr>
        <p:sp>
          <p:nvSpPr>
            <p:cNvPr name="Freeform 39" id="39"/>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40" id="40"/>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41" id="41"/>
          <p:cNvSpPr txBox="true"/>
          <p:nvPr/>
        </p:nvSpPr>
        <p:spPr>
          <a:xfrm rot="0">
            <a:off x="10127366" y="6727355"/>
            <a:ext cx="1024878" cy="1150752"/>
          </a:xfrm>
          <a:prstGeom prst="rect">
            <a:avLst/>
          </a:prstGeom>
        </p:spPr>
        <p:txBody>
          <a:bodyPr anchor="t" rtlCol="false" tIns="0" lIns="0" bIns="0" rIns="0">
            <a:spAutoFit/>
          </a:bodyPr>
          <a:lstStyle/>
          <a:p>
            <a:pPr algn="ctr" marL="0" indent="0" lvl="0">
              <a:lnSpc>
                <a:spcPts val="9022"/>
              </a:lnSpc>
            </a:pPr>
            <a:r>
              <a:rPr lang="en-US" b="true" sz="6444">
                <a:solidFill>
                  <a:srgbClr val="DEDEDE"/>
                </a:solidFill>
                <a:latin typeface="Helios Extended Bold"/>
                <a:ea typeface="Helios Extended Bold"/>
                <a:cs typeface="Helios Extended Bold"/>
                <a:sym typeface="Helios Extended Bold"/>
              </a:rPr>
              <a:t>4</a:t>
            </a:r>
          </a:p>
        </p:txBody>
      </p:sp>
      <p:sp>
        <p:nvSpPr>
          <p:cNvPr name="TextBox 42" id="42"/>
          <p:cNvSpPr txBox="true"/>
          <p:nvPr/>
        </p:nvSpPr>
        <p:spPr>
          <a:xfrm rot="0">
            <a:off x="1028700" y="9227975"/>
            <a:ext cx="2933362" cy="378832"/>
          </a:xfrm>
          <a:prstGeom prst="rect">
            <a:avLst/>
          </a:prstGeom>
        </p:spPr>
        <p:txBody>
          <a:bodyPr anchor="t" rtlCol="false" tIns="0" lIns="0" bIns="0" rIns="0">
            <a:spAutoFit/>
          </a:bodyPr>
          <a:lstStyle/>
          <a:p>
            <a:pPr algn="l" marL="0" indent="0" lvl="0">
              <a:lnSpc>
                <a:spcPts val="3190"/>
              </a:lnSpc>
            </a:pPr>
            <a:r>
              <a:rPr lang="en-US" b="true" sz="2279">
                <a:solidFill>
                  <a:srgbClr val="026263"/>
                </a:solidFill>
                <a:latin typeface="DM Sans Bold"/>
                <a:ea typeface="DM Sans Bold"/>
                <a:cs typeface="DM Sans Bold"/>
                <a:sym typeface="DM Sans Bold"/>
              </a:rPr>
              <a:t>Project I 04</a:t>
            </a:r>
          </a:p>
        </p:txBody>
      </p:sp>
      <p:sp>
        <p:nvSpPr>
          <p:cNvPr name="AutoShape 43" id="43"/>
          <p:cNvSpPr/>
          <p:nvPr/>
        </p:nvSpPr>
        <p:spPr>
          <a:xfrm>
            <a:off x="3683318" y="9455470"/>
            <a:ext cx="7977806" cy="0"/>
          </a:xfrm>
          <a:prstGeom prst="line">
            <a:avLst/>
          </a:prstGeom>
          <a:ln cap="flat" w="19050">
            <a:solidFill>
              <a:srgbClr val="026263"/>
            </a:solidFill>
            <a:prstDash val="solid"/>
            <a:headEnd type="none" len="sm" w="sm"/>
            <a:tailEnd type="oval" len="lg" w="lg"/>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875812" y="5692375"/>
            <a:ext cx="10999339" cy="5631662"/>
          </a:xfrm>
          <a:custGeom>
            <a:avLst/>
            <a:gdLst/>
            <a:ahLst/>
            <a:cxnLst/>
            <a:rect r="r" b="b" t="t" l="l"/>
            <a:pathLst>
              <a:path h="5631662" w="10999339">
                <a:moveTo>
                  <a:pt x="0" y="0"/>
                </a:moveTo>
                <a:lnTo>
                  <a:pt x="10999339" y="0"/>
                </a:lnTo>
                <a:lnTo>
                  <a:pt x="10999339" y="5631662"/>
                </a:lnTo>
                <a:lnTo>
                  <a:pt x="0" y="5631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587151" y="-1037037"/>
            <a:ext cx="10999339" cy="5631662"/>
          </a:xfrm>
          <a:custGeom>
            <a:avLst/>
            <a:gdLst/>
            <a:ahLst/>
            <a:cxnLst/>
            <a:rect r="r" b="b" t="t" l="l"/>
            <a:pathLst>
              <a:path h="5631662" w="10999339">
                <a:moveTo>
                  <a:pt x="10999339" y="5631662"/>
                </a:moveTo>
                <a:lnTo>
                  <a:pt x="0" y="5631662"/>
                </a:lnTo>
                <a:lnTo>
                  <a:pt x="0" y="0"/>
                </a:lnTo>
                <a:lnTo>
                  <a:pt x="10999339" y="0"/>
                </a:lnTo>
                <a:lnTo>
                  <a:pt x="10999339" y="563166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008145" y="4110038"/>
            <a:ext cx="5152455" cy="8237937"/>
          </a:xfrm>
          <a:custGeom>
            <a:avLst/>
            <a:gdLst/>
            <a:ahLst/>
            <a:cxnLst/>
            <a:rect r="r" b="b" t="t" l="l"/>
            <a:pathLst>
              <a:path h="8237937" w="5152455">
                <a:moveTo>
                  <a:pt x="5152455" y="0"/>
                </a:moveTo>
                <a:lnTo>
                  <a:pt x="0" y="0"/>
                </a:lnTo>
                <a:lnTo>
                  <a:pt x="0" y="8237937"/>
                </a:lnTo>
                <a:lnTo>
                  <a:pt x="5152455" y="8237937"/>
                </a:lnTo>
                <a:lnTo>
                  <a:pt x="51524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3889831" y="-2340175"/>
            <a:ext cx="5152455" cy="8237937"/>
          </a:xfrm>
          <a:custGeom>
            <a:avLst/>
            <a:gdLst/>
            <a:ahLst/>
            <a:cxnLst/>
            <a:rect r="r" b="b" t="t" l="l"/>
            <a:pathLst>
              <a:path h="8237937" w="5152455">
                <a:moveTo>
                  <a:pt x="0" y="8237937"/>
                </a:moveTo>
                <a:lnTo>
                  <a:pt x="5152455" y="8237937"/>
                </a:lnTo>
                <a:lnTo>
                  <a:pt x="5152455" y="0"/>
                </a:lnTo>
                <a:lnTo>
                  <a:pt x="0" y="0"/>
                </a:lnTo>
                <a:lnTo>
                  <a:pt x="0" y="823793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400000">
            <a:off x="16457134" y="3902331"/>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5400000">
            <a:off x="226534" y="5737959"/>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807156" y="1878175"/>
            <a:ext cx="12673688" cy="1385818"/>
          </a:xfrm>
          <a:prstGeom prst="rect">
            <a:avLst/>
          </a:prstGeom>
        </p:spPr>
        <p:txBody>
          <a:bodyPr anchor="t" rtlCol="false" tIns="0" lIns="0" bIns="0" rIns="0">
            <a:spAutoFit/>
          </a:bodyPr>
          <a:lstStyle/>
          <a:p>
            <a:pPr algn="ctr" marL="0" indent="0" lvl="0">
              <a:lnSpc>
                <a:spcPts val="11018"/>
              </a:lnSpc>
            </a:pPr>
            <a:r>
              <a:rPr lang="en-US" b="true" sz="7870">
                <a:solidFill>
                  <a:srgbClr val="026263"/>
                </a:solidFill>
                <a:latin typeface="Helios Extended Bold"/>
                <a:ea typeface="Helios Extended Bold"/>
                <a:cs typeface="Helios Extended Bold"/>
                <a:sym typeface="Helios Extended Bold"/>
              </a:rPr>
              <a:t>KEY FEATURES</a:t>
            </a:r>
          </a:p>
        </p:txBody>
      </p:sp>
      <p:sp>
        <p:nvSpPr>
          <p:cNvPr name="TextBox 10" id="10"/>
          <p:cNvSpPr txBox="true"/>
          <p:nvPr/>
        </p:nvSpPr>
        <p:spPr>
          <a:xfrm rot="0">
            <a:off x="2858863" y="3436775"/>
            <a:ext cx="12570275" cy="4172004"/>
          </a:xfrm>
          <a:prstGeom prst="rect">
            <a:avLst/>
          </a:prstGeom>
        </p:spPr>
        <p:txBody>
          <a:bodyPr anchor="t" rtlCol="false" tIns="0" lIns="0" bIns="0" rIns="0">
            <a:spAutoFit/>
          </a:bodyPr>
          <a:lstStyle/>
          <a:p>
            <a:pPr algn="l" marL="0" indent="0" lvl="0">
              <a:lnSpc>
                <a:spcPts val="4197"/>
              </a:lnSpc>
            </a:pPr>
            <a:r>
              <a:rPr lang="en-US" sz="2997">
                <a:solidFill>
                  <a:srgbClr val="026263"/>
                </a:solidFill>
                <a:latin typeface="Iffat"/>
                <a:ea typeface="Iffat"/>
                <a:cs typeface="Iffat"/>
                <a:sym typeface="Iffat"/>
              </a:rPr>
              <a:t>Topic-based Note Generation: Enter any subject or topic, and the AI automatically generates comprehensive, well-structured study notes tailored to help you understand and remember key concepts.</a:t>
            </a:r>
          </a:p>
          <a:p>
            <a:pPr algn="l" marL="0" indent="0" lvl="0">
              <a:lnSpc>
                <a:spcPts val="4197"/>
              </a:lnSpc>
            </a:pPr>
            <a:r>
              <a:rPr lang="en-US" sz="2997">
                <a:solidFill>
                  <a:srgbClr val="026263"/>
                </a:solidFill>
                <a:latin typeface="Iffat"/>
                <a:ea typeface="Iffat"/>
                <a:cs typeface="Iffat"/>
                <a:sym typeface="Iffat"/>
              </a:rPr>
              <a:t>Important Points Extraction: The system identifies and highlights crucial information, formulas, definitions, and facts that are essential for exams and assessments.</a:t>
            </a:r>
          </a:p>
          <a:p>
            <a:pPr algn="l" marL="0" indent="0" lvl="0">
              <a:lnSpc>
                <a:spcPts val="4197"/>
              </a:lnSpc>
            </a:pPr>
            <a:r>
              <a:rPr lang="en-US" sz="2997">
                <a:solidFill>
                  <a:srgbClr val="026263"/>
                </a:solidFill>
                <a:latin typeface="Iffat"/>
                <a:ea typeface="Iffat"/>
                <a:cs typeface="Iffat"/>
                <a:sym typeface="Iffat"/>
              </a:rPr>
              <a:t>Short Summaries &amp; Simple Language: Get concise summaries of complex topics written in easy-to-understand language, making revision quick and stress-free for students of all levels.</a:t>
            </a:r>
          </a:p>
        </p:txBody>
      </p:sp>
      <p:sp>
        <p:nvSpPr>
          <p:cNvPr name="TextBox 11" id="11"/>
          <p:cNvSpPr txBox="true"/>
          <p:nvPr/>
        </p:nvSpPr>
        <p:spPr>
          <a:xfrm rot="0">
            <a:off x="1028700" y="9227975"/>
            <a:ext cx="2933362" cy="378832"/>
          </a:xfrm>
          <a:prstGeom prst="rect">
            <a:avLst/>
          </a:prstGeom>
        </p:spPr>
        <p:txBody>
          <a:bodyPr anchor="t" rtlCol="false" tIns="0" lIns="0" bIns="0" rIns="0">
            <a:spAutoFit/>
          </a:bodyPr>
          <a:lstStyle/>
          <a:p>
            <a:pPr algn="l" marL="0" indent="0" lvl="0">
              <a:lnSpc>
                <a:spcPts val="3190"/>
              </a:lnSpc>
            </a:pPr>
            <a:r>
              <a:rPr lang="en-US" b="true" sz="2279">
                <a:solidFill>
                  <a:srgbClr val="026263"/>
                </a:solidFill>
                <a:latin typeface="DM Sans Bold"/>
                <a:ea typeface="DM Sans Bold"/>
                <a:cs typeface="DM Sans Bold"/>
                <a:sym typeface="DM Sans Bold"/>
              </a:rPr>
              <a:t>Presentation I 05</a:t>
            </a:r>
          </a:p>
        </p:txBody>
      </p:sp>
      <p:sp>
        <p:nvSpPr>
          <p:cNvPr name="AutoShape 12" id="12"/>
          <p:cNvSpPr/>
          <p:nvPr/>
        </p:nvSpPr>
        <p:spPr>
          <a:xfrm>
            <a:off x="3683318" y="9455470"/>
            <a:ext cx="7977806" cy="0"/>
          </a:xfrm>
          <a:prstGeom prst="line">
            <a:avLst/>
          </a:prstGeom>
          <a:ln cap="flat" w="19050">
            <a:solidFill>
              <a:srgbClr val="026263"/>
            </a:solidFill>
            <a:prstDash val="solid"/>
            <a:headEnd type="none" len="sm" w="sm"/>
            <a:tailEnd type="oval" len="lg" w="lg"/>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875812" y="5692375"/>
            <a:ext cx="10999339" cy="5631662"/>
          </a:xfrm>
          <a:custGeom>
            <a:avLst/>
            <a:gdLst/>
            <a:ahLst/>
            <a:cxnLst/>
            <a:rect r="r" b="b" t="t" l="l"/>
            <a:pathLst>
              <a:path h="5631662" w="10999339">
                <a:moveTo>
                  <a:pt x="0" y="0"/>
                </a:moveTo>
                <a:lnTo>
                  <a:pt x="10999339" y="0"/>
                </a:lnTo>
                <a:lnTo>
                  <a:pt x="10999339" y="5631662"/>
                </a:lnTo>
                <a:lnTo>
                  <a:pt x="0" y="5631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587151" y="-1037037"/>
            <a:ext cx="10999339" cy="5631662"/>
          </a:xfrm>
          <a:custGeom>
            <a:avLst/>
            <a:gdLst/>
            <a:ahLst/>
            <a:cxnLst/>
            <a:rect r="r" b="b" t="t" l="l"/>
            <a:pathLst>
              <a:path h="5631662" w="10999339">
                <a:moveTo>
                  <a:pt x="10999339" y="5631662"/>
                </a:moveTo>
                <a:lnTo>
                  <a:pt x="0" y="5631662"/>
                </a:lnTo>
                <a:lnTo>
                  <a:pt x="0" y="0"/>
                </a:lnTo>
                <a:lnTo>
                  <a:pt x="10999339" y="0"/>
                </a:lnTo>
                <a:lnTo>
                  <a:pt x="10999339" y="563166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008145" y="4110038"/>
            <a:ext cx="5152455" cy="8237937"/>
          </a:xfrm>
          <a:custGeom>
            <a:avLst/>
            <a:gdLst/>
            <a:ahLst/>
            <a:cxnLst/>
            <a:rect r="r" b="b" t="t" l="l"/>
            <a:pathLst>
              <a:path h="8237937" w="5152455">
                <a:moveTo>
                  <a:pt x="5152455" y="0"/>
                </a:moveTo>
                <a:lnTo>
                  <a:pt x="0" y="0"/>
                </a:lnTo>
                <a:lnTo>
                  <a:pt x="0" y="8237937"/>
                </a:lnTo>
                <a:lnTo>
                  <a:pt x="5152455" y="8237937"/>
                </a:lnTo>
                <a:lnTo>
                  <a:pt x="51524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3889831" y="-2340175"/>
            <a:ext cx="5152455" cy="8237937"/>
          </a:xfrm>
          <a:custGeom>
            <a:avLst/>
            <a:gdLst/>
            <a:ahLst/>
            <a:cxnLst/>
            <a:rect r="r" b="b" t="t" l="l"/>
            <a:pathLst>
              <a:path h="8237937" w="5152455">
                <a:moveTo>
                  <a:pt x="0" y="8237937"/>
                </a:moveTo>
                <a:lnTo>
                  <a:pt x="5152455" y="8237937"/>
                </a:lnTo>
                <a:lnTo>
                  <a:pt x="5152455" y="0"/>
                </a:lnTo>
                <a:lnTo>
                  <a:pt x="0" y="0"/>
                </a:lnTo>
                <a:lnTo>
                  <a:pt x="0" y="823793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400000">
            <a:off x="16457134" y="3902331"/>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5400000">
            <a:off x="226534" y="5737959"/>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962062" y="1421763"/>
            <a:ext cx="10363876" cy="1129544"/>
          </a:xfrm>
          <a:prstGeom prst="rect">
            <a:avLst/>
          </a:prstGeom>
        </p:spPr>
        <p:txBody>
          <a:bodyPr anchor="t" rtlCol="false" tIns="0" lIns="0" bIns="0" rIns="0">
            <a:spAutoFit/>
          </a:bodyPr>
          <a:lstStyle/>
          <a:p>
            <a:pPr algn="ctr" marL="0" indent="0" lvl="0">
              <a:lnSpc>
                <a:spcPts val="8940"/>
              </a:lnSpc>
            </a:pPr>
            <a:r>
              <a:rPr lang="en-US" b="true" sz="6386">
                <a:solidFill>
                  <a:srgbClr val="026263"/>
                </a:solidFill>
                <a:latin typeface="Helios Extended Bold"/>
                <a:ea typeface="Helios Extended Bold"/>
                <a:cs typeface="Helios Extended Bold"/>
                <a:sym typeface="Helios Extended Bold"/>
              </a:rPr>
              <a:t>SYSTEM WORKFLOW</a:t>
            </a:r>
          </a:p>
        </p:txBody>
      </p:sp>
      <p:grpSp>
        <p:nvGrpSpPr>
          <p:cNvPr name="Group 10" id="10"/>
          <p:cNvGrpSpPr/>
          <p:nvPr/>
        </p:nvGrpSpPr>
        <p:grpSpPr>
          <a:xfrm rot="0">
            <a:off x="5684600" y="3047897"/>
            <a:ext cx="2916436" cy="2691406"/>
            <a:chOff x="0" y="0"/>
            <a:chExt cx="768115" cy="708848"/>
          </a:xfrm>
        </p:grpSpPr>
        <p:sp>
          <p:nvSpPr>
            <p:cNvPr name="Freeform 11" id="11"/>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12" id="12"/>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13" id="13"/>
          <p:cNvSpPr txBox="true"/>
          <p:nvPr/>
        </p:nvSpPr>
        <p:spPr>
          <a:xfrm rot="0">
            <a:off x="6000754" y="3307750"/>
            <a:ext cx="2284128" cy="12542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Student enters their topic into the form interface.</a:t>
            </a:r>
          </a:p>
        </p:txBody>
      </p:sp>
      <p:grpSp>
        <p:nvGrpSpPr>
          <p:cNvPr name="Group 14" id="14"/>
          <p:cNvGrpSpPr/>
          <p:nvPr/>
        </p:nvGrpSpPr>
        <p:grpSpPr>
          <a:xfrm rot="0">
            <a:off x="3369757" y="3062481"/>
            <a:ext cx="1905681" cy="2676822"/>
            <a:chOff x="0" y="0"/>
            <a:chExt cx="501908" cy="705007"/>
          </a:xfrm>
        </p:grpSpPr>
        <p:sp>
          <p:nvSpPr>
            <p:cNvPr name="Freeform 15" id="15"/>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16" id="16"/>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17" id="17"/>
          <p:cNvSpPr txBox="true"/>
          <p:nvPr/>
        </p:nvSpPr>
        <p:spPr>
          <a:xfrm rot="0">
            <a:off x="3810159" y="3801446"/>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1</a:t>
            </a:r>
          </a:p>
        </p:txBody>
      </p:sp>
      <p:grpSp>
        <p:nvGrpSpPr>
          <p:cNvPr name="Group 18" id="18"/>
          <p:cNvGrpSpPr/>
          <p:nvPr/>
        </p:nvGrpSpPr>
        <p:grpSpPr>
          <a:xfrm rot="0">
            <a:off x="12001807" y="3047897"/>
            <a:ext cx="2916436" cy="2691406"/>
            <a:chOff x="0" y="0"/>
            <a:chExt cx="768115" cy="708848"/>
          </a:xfrm>
        </p:grpSpPr>
        <p:sp>
          <p:nvSpPr>
            <p:cNvPr name="Freeform 19" id="19"/>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20" id="20"/>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21" id="21"/>
          <p:cNvSpPr txBox="true"/>
          <p:nvPr/>
        </p:nvSpPr>
        <p:spPr>
          <a:xfrm rot="0">
            <a:off x="12317961" y="3307750"/>
            <a:ext cx="2284128" cy="20924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n8n Form receives the input and Google Gemini processes the request.</a:t>
            </a:r>
          </a:p>
        </p:txBody>
      </p:sp>
      <p:grpSp>
        <p:nvGrpSpPr>
          <p:cNvPr name="Group 22" id="22"/>
          <p:cNvGrpSpPr/>
          <p:nvPr/>
        </p:nvGrpSpPr>
        <p:grpSpPr>
          <a:xfrm rot="0">
            <a:off x="9686965" y="3062481"/>
            <a:ext cx="1905681" cy="2676822"/>
            <a:chOff x="0" y="0"/>
            <a:chExt cx="501908" cy="705007"/>
          </a:xfrm>
        </p:grpSpPr>
        <p:sp>
          <p:nvSpPr>
            <p:cNvPr name="Freeform 23" id="23"/>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24" id="24"/>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25" id="25"/>
          <p:cNvSpPr txBox="true"/>
          <p:nvPr/>
        </p:nvSpPr>
        <p:spPr>
          <a:xfrm rot="0">
            <a:off x="10127366" y="3801446"/>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2</a:t>
            </a:r>
          </a:p>
        </p:txBody>
      </p:sp>
      <p:grpSp>
        <p:nvGrpSpPr>
          <p:cNvPr name="Group 26" id="26"/>
          <p:cNvGrpSpPr/>
          <p:nvPr/>
        </p:nvGrpSpPr>
        <p:grpSpPr>
          <a:xfrm rot="0">
            <a:off x="5684600" y="6011905"/>
            <a:ext cx="2916436" cy="2691406"/>
            <a:chOff x="0" y="0"/>
            <a:chExt cx="768115" cy="708848"/>
          </a:xfrm>
        </p:grpSpPr>
        <p:sp>
          <p:nvSpPr>
            <p:cNvPr name="Freeform 27" id="27"/>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28" id="28"/>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29" id="29"/>
          <p:cNvSpPr txBox="true"/>
          <p:nvPr/>
        </p:nvSpPr>
        <p:spPr>
          <a:xfrm rot="0">
            <a:off x="6000754" y="6271759"/>
            <a:ext cx="2284128" cy="16733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AI generates structured, exam-focused study notes.</a:t>
            </a:r>
          </a:p>
        </p:txBody>
      </p:sp>
      <p:grpSp>
        <p:nvGrpSpPr>
          <p:cNvPr name="Group 30" id="30"/>
          <p:cNvGrpSpPr/>
          <p:nvPr/>
        </p:nvGrpSpPr>
        <p:grpSpPr>
          <a:xfrm rot="0">
            <a:off x="3369757" y="6026490"/>
            <a:ext cx="1905681" cy="2676822"/>
            <a:chOff x="0" y="0"/>
            <a:chExt cx="501908" cy="705007"/>
          </a:xfrm>
        </p:grpSpPr>
        <p:sp>
          <p:nvSpPr>
            <p:cNvPr name="Freeform 31" id="31"/>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32" id="32"/>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33" id="33"/>
          <p:cNvSpPr txBox="true"/>
          <p:nvPr/>
        </p:nvSpPr>
        <p:spPr>
          <a:xfrm rot="0">
            <a:off x="3810159" y="6765455"/>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3</a:t>
            </a:r>
          </a:p>
        </p:txBody>
      </p:sp>
      <p:grpSp>
        <p:nvGrpSpPr>
          <p:cNvPr name="Group 34" id="34"/>
          <p:cNvGrpSpPr/>
          <p:nvPr/>
        </p:nvGrpSpPr>
        <p:grpSpPr>
          <a:xfrm rot="0">
            <a:off x="12001807" y="6011905"/>
            <a:ext cx="2916436" cy="2691406"/>
            <a:chOff x="0" y="0"/>
            <a:chExt cx="768115" cy="708848"/>
          </a:xfrm>
        </p:grpSpPr>
        <p:sp>
          <p:nvSpPr>
            <p:cNvPr name="Freeform 35" id="35"/>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36" id="36"/>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37" id="37"/>
          <p:cNvSpPr txBox="true"/>
          <p:nvPr/>
        </p:nvSpPr>
        <p:spPr>
          <a:xfrm rot="0">
            <a:off x="12317961" y="6271759"/>
            <a:ext cx="2284128" cy="16733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Generated notes are displayed to the student for quick revision.</a:t>
            </a:r>
          </a:p>
        </p:txBody>
      </p:sp>
      <p:grpSp>
        <p:nvGrpSpPr>
          <p:cNvPr name="Group 38" id="38"/>
          <p:cNvGrpSpPr/>
          <p:nvPr/>
        </p:nvGrpSpPr>
        <p:grpSpPr>
          <a:xfrm rot="0">
            <a:off x="9686965" y="6026490"/>
            <a:ext cx="1905681" cy="2676822"/>
            <a:chOff x="0" y="0"/>
            <a:chExt cx="501908" cy="705007"/>
          </a:xfrm>
        </p:grpSpPr>
        <p:sp>
          <p:nvSpPr>
            <p:cNvPr name="Freeform 39" id="39"/>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40" id="40"/>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41" id="41"/>
          <p:cNvSpPr txBox="true"/>
          <p:nvPr/>
        </p:nvSpPr>
        <p:spPr>
          <a:xfrm rot="0">
            <a:off x="10127366" y="6765455"/>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4</a:t>
            </a:r>
          </a:p>
        </p:txBody>
      </p:sp>
      <p:sp>
        <p:nvSpPr>
          <p:cNvPr name="TextBox 42" id="42"/>
          <p:cNvSpPr txBox="true"/>
          <p:nvPr/>
        </p:nvSpPr>
        <p:spPr>
          <a:xfrm rot="0">
            <a:off x="1028700" y="9227975"/>
            <a:ext cx="2933362" cy="378832"/>
          </a:xfrm>
          <a:prstGeom prst="rect">
            <a:avLst/>
          </a:prstGeom>
        </p:spPr>
        <p:txBody>
          <a:bodyPr anchor="t" rtlCol="false" tIns="0" lIns="0" bIns="0" rIns="0">
            <a:spAutoFit/>
          </a:bodyPr>
          <a:lstStyle/>
          <a:p>
            <a:pPr algn="l" marL="0" indent="0" lvl="0">
              <a:lnSpc>
                <a:spcPts val="3190"/>
              </a:lnSpc>
            </a:pPr>
            <a:r>
              <a:rPr lang="en-US" b="true" sz="2279">
                <a:solidFill>
                  <a:srgbClr val="026263"/>
                </a:solidFill>
                <a:latin typeface="DM Sans Bold"/>
                <a:ea typeface="DM Sans Bold"/>
                <a:cs typeface="DM Sans Bold"/>
                <a:sym typeface="DM Sans Bold"/>
              </a:rPr>
              <a:t>Page 6 of 10</a:t>
            </a:r>
          </a:p>
        </p:txBody>
      </p:sp>
      <p:sp>
        <p:nvSpPr>
          <p:cNvPr name="AutoShape 43" id="43"/>
          <p:cNvSpPr/>
          <p:nvPr/>
        </p:nvSpPr>
        <p:spPr>
          <a:xfrm>
            <a:off x="3683318" y="9455470"/>
            <a:ext cx="7977806" cy="0"/>
          </a:xfrm>
          <a:prstGeom prst="line">
            <a:avLst/>
          </a:prstGeom>
          <a:ln cap="flat" w="19050">
            <a:solidFill>
              <a:srgbClr val="026263"/>
            </a:solidFill>
            <a:prstDash val="solid"/>
            <a:headEnd type="none" len="sm" w="sm"/>
            <a:tailEnd type="oval" len="lg" w="lg"/>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875812" y="5692375"/>
            <a:ext cx="10999339" cy="5631662"/>
          </a:xfrm>
          <a:custGeom>
            <a:avLst/>
            <a:gdLst/>
            <a:ahLst/>
            <a:cxnLst/>
            <a:rect r="r" b="b" t="t" l="l"/>
            <a:pathLst>
              <a:path h="5631662" w="10999339">
                <a:moveTo>
                  <a:pt x="0" y="0"/>
                </a:moveTo>
                <a:lnTo>
                  <a:pt x="10999339" y="0"/>
                </a:lnTo>
                <a:lnTo>
                  <a:pt x="10999339" y="5631662"/>
                </a:lnTo>
                <a:lnTo>
                  <a:pt x="0" y="5631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587151" y="-1037037"/>
            <a:ext cx="10999339" cy="5631662"/>
          </a:xfrm>
          <a:custGeom>
            <a:avLst/>
            <a:gdLst/>
            <a:ahLst/>
            <a:cxnLst/>
            <a:rect r="r" b="b" t="t" l="l"/>
            <a:pathLst>
              <a:path h="5631662" w="10999339">
                <a:moveTo>
                  <a:pt x="10999339" y="5631662"/>
                </a:moveTo>
                <a:lnTo>
                  <a:pt x="0" y="5631662"/>
                </a:lnTo>
                <a:lnTo>
                  <a:pt x="0" y="0"/>
                </a:lnTo>
                <a:lnTo>
                  <a:pt x="10999339" y="0"/>
                </a:lnTo>
                <a:lnTo>
                  <a:pt x="10999339" y="563166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008145" y="4110038"/>
            <a:ext cx="5152455" cy="8237937"/>
          </a:xfrm>
          <a:custGeom>
            <a:avLst/>
            <a:gdLst/>
            <a:ahLst/>
            <a:cxnLst/>
            <a:rect r="r" b="b" t="t" l="l"/>
            <a:pathLst>
              <a:path h="8237937" w="5152455">
                <a:moveTo>
                  <a:pt x="5152455" y="0"/>
                </a:moveTo>
                <a:lnTo>
                  <a:pt x="0" y="0"/>
                </a:lnTo>
                <a:lnTo>
                  <a:pt x="0" y="8237937"/>
                </a:lnTo>
                <a:lnTo>
                  <a:pt x="5152455" y="8237937"/>
                </a:lnTo>
                <a:lnTo>
                  <a:pt x="51524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3889831" y="-2340175"/>
            <a:ext cx="5152455" cy="8237937"/>
          </a:xfrm>
          <a:custGeom>
            <a:avLst/>
            <a:gdLst/>
            <a:ahLst/>
            <a:cxnLst/>
            <a:rect r="r" b="b" t="t" l="l"/>
            <a:pathLst>
              <a:path h="8237937" w="5152455">
                <a:moveTo>
                  <a:pt x="0" y="8237937"/>
                </a:moveTo>
                <a:lnTo>
                  <a:pt x="5152455" y="8237937"/>
                </a:lnTo>
                <a:lnTo>
                  <a:pt x="5152455" y="0"/>
                </a:lnTo>
                <a:lnTo>
                  <a:pt x="0" y="0"/>
                </a:lnTo>
                <a:lnTo>
                  <a:pt x="0" y="823793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400000">
            <a:off x="16457134" y="3902331"/>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5400000">
            <a:off x="226534" y="5737959"/>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962062" y="1421763"/>
            <a:ext cx="10363876" cy="1109937"/>
          </a:xfrm>
          <a:prstGeom prst="rect">
            <a:avLst/>
          </a:prstGeom>
        </p:spPr>
        <p:txBody>
          <a:bodyPr anchor="t" rtlCol="false" tIns="0" lIns="0" bIns="0" rIns="0">
            <a:spAutoFit/>
          </a:bodyPr>
          <a:lstStyle/>
          <a:p>
            <a:pPr algn="ctr" marL="0" indent="0" lvl="0">
              <a:lnSpc>
                <a:spcPts val="8767"/>
              </a:lnSpc>
            </a:pPr>
            <a:r>
              <a:rPr lang="en-US" b="true" sz="6262">
                <a:solidFill>
                  <a:srgbClr val="026263"/>
                </a:solidFill>
                <a:latin typeface="Helios Extended Bold"/>
                <a:ea typeface="Helios Extended Bold"/>
                <a:cs typeface="Helios Extended Bold"/>
                <a:sym typeface="Helios Extended Bold"/>
              </a:rPr>
              <a:t>TECHNOLOGY STACK</a:t>
            </a:r>
          </a:p>
        </p:txBody>
      </p:sp>
      <p:grpSp>
        <p:nvGrpSpPr>
          <p:cNvPr name="Group 10" id="10"/>
          <p:cNvGrpSpPr/>
          <p:nvPr/>
        </p:nvGrpSpPr>
        <p:grpSpPr>
          <a:xfrm rot="0">
            <a:off x="5684600" y="3047897"/>
            <a:ext cx="2916436" cy="2691406"/>
            <a:chOff x="0" y="0"/>
            <a:chExt cx="768115" cy="708848"/>
          </a:xfrm>
        </p:grpSpPr>
        <p:sp>
          <p:nvSpPr>
            <p:cNvPr name="Freeform 11" id="11"/>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12" id="12"/>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13" id="13"/>
          <p:cNvSpPr txBox="true"/>
          <p:nvPr/>
        </p:nvSpPr>
        <p:spPr>
          <a:xfrm rot="0">
            <a:off x="6000754" y="3307750"/>
            <a:ext cx="2284128" cy="20924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Frontend: n8n Form provides the user interface for topic input and interaction.</a:t>
            </a:r>
          </a:p>
        </p:txBody>
      </p:sp>
      <p:grpSp>
        <p:nvGrpSpPr>
          <p:cNvPr name="Group 14" id="14"/>
          <p:cNvGrpSpPr/>
          <p:nvPr/>
        </p:nvGrpSpPr>
        <p:grpSpPr>
          <a:xfrm rot="0">
            <a:off x="3369757" y="3062481"/>
            <a:ext cx="1905681" cy="2676822"/>
            <a:chOff x="0" y="0"/>
            <a:chExt cx="501908" cy="705007"/>
          </a:xfrm>
        </p:grpSpPr>
        <p:sp>
          <p:nvSpPr>
            <p:cNvPr name="Freeform 15" id="15"/>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16" id="16"/>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17" id="17"/>
          <p:cNvSpPr txBox="true"/>
          <p:nvPr/>
        </p:nvSpPr>
        <p:spPr>
          <a:xfrm rot="0">
            <a:off x="3810159" y="3801446"/>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1</a:t>
            </a:r>
          </a:p>
        </p:txBody>
      </p:sp>
      <p:grpSp>
        <p:nvGrpSpPr>
          <p:cNvPr name="Group 18" id="18"/>
          <p:cNvGrpSpPr/>
          <p:nvPr/>
        </p:nvGrpSpPr>
        <p:grpSpPr>
          <a:xfrm rot="0">
            <a:off x="12001807" y="3047897"/>
            <a:ext cx="2916436" cy="2691406"/>
            <a:chOff x="0" y="0"/>
            <a:chExt cx="768115" cy="708848"/>
          </a:xfrm>
        </p:grpSpPr>
        <p:sp>
          <p:nvSpPr>
            <p:cNvPr name="Freeform 19" id="19"/>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20" id="20"/>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21" id="21"/>
          <p:cNvSpPr txBox="true"/>
          <p:nvPr/>
        </p:nvSpPr>
        <p:spPr>
          <a:xfrm rot="0">
            <a:off x="12317961" y="3307750"/>
            <a:ext cx="2284128" cy="20924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AI Model: Google Gemini powers the intelligent note generation and processing.</a:t>
            </a:r>
          </a:p>
        </p:txBody>
      </p:sp>
      <p:grpSp>
        <p:nvGrpSpPr>
          <p:cNvPr name="Group 22" id="22"/>
          <p:cNvGrpSpPr/>
          <p:nvPr/>
        </p:nvGrpSpPr>
        <p:grpSpPr>
          <a:xfrm rot="0">
            <a:off x="9686965" y="3062481"/>
            <a:ext cx="1905681" cy="2676822"/>
            <a:chOff x="0" y="0"/>
            <a:chExt cx="501908" cy="705007"/>
          </a:xfrm>
        </p:grpSpPr>
        <p:sp>
          <p:nvSpPr>
            <p:cNvPr name="Freeform 23" id="23"/>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24" id="24"/>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25" id="25"/>
          <p:cNvSpPr txBox="true"/>
          <p:nvPr/>
        </p:nvSpPr>
        <p:spPr>
          <a:xfrm rot="0">
            <a:off x="10127366" y="3801446"/>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2</a:t>
            </a:r>
          </a:p>
        </p:txBody>
      </p:sp>
      <p:grpSp>
        <p:nvGrpSpPr>
          <p:cNvPr name="Group 26" id="26"/>
          <p:cNvGrpSpPr/>
          <p:nvPr/>
        </p:nvGrpSpPr>
        <p:grpSpPr>
          <a:xfrm rot="0">
            <a:off x="5684600" y="6011905"/>
            <a:ext cx="2916436" cy="2691406"/>
            <a:chOff x="0" y="0"/>
            <a:chExt cx="768115" cy="708848"/>
          </a:xfrm>
        </p:grpSpPr>
        <p:sp>
          <p:nvSpPr>
            <p:cNvPr name="Freeform 27" id="27"/>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28" id="28"/>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29" id="29"/>
          <p:cNvSpPr txBox="true"/>
          <p:nvPr/>
        </p:nvSpPr>
        <p:spPr>
          <a:xfrm rot="0">
            <a:off x="6000754" y="6271759"/>
            <a:ext cx="2284128" cy="20924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Automation: n8n Workflow orchestrates the complete system pipeline.</a:t>
            </a:r>
          </a:p>
        </p:txBody>
      </p:sp>
      <p:grpSp>
        <p:nvGrpSpPr>
          <p:cNvPr name="Group 30" id="30"/>
          <p:cNvGrpSpPr/>
          <p:nvPr/>
        </p:nvGrpSpPr>
        <p:grpSpPr>
          <a:xfrm rot="0">
            <a:off x="3369757" y="6026490"/>
            <a:ext cx="1905681" cy="2676822"/>
            <a:chOff x="0" y="0"/>
            <a:chExt cx="501908" cy="705007"/>
          </a:xfrm>
        </p:grpSpPr>
        <p:sp>
          <p:nvSpPr>
            <p:cNvPr name="Freeform 31" id="31"/>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32" id="32"/>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33" id="33"/>
          <p:cNvSpPr txBox="true"/>
          <p:nvPr/>
        </p:nvSpPr>
        <p:spPr>
          <a:xfrm rot="0">
            <a:off x="3810159" y="6765455"/>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3</a:t>
            </a:r>
          </a:p>
        </p:txBody>
      </p:sp>
      <p:grpSp>
        <p:nvGrpSpPr>
          <p:cNvPr name="Group 34" id="34"/>
          <p:cNvGrpSpPr/>
          <p:nvPr/>
        </p:nvGrpSpPr>
        <p:grpSpPr>
          <a:xfrm rot="0">
            <a:off x="12001807" y="6011905"/>
            <a:ext cx="2916436" cy="2691406"/>
            <a:chOff x="0" y="0"/>
            <a:chExt cx="768115" cy="708848"/>
          </a:xfrm>
        </p:grpSpPr>
        <p:sp>
          <p:nvSpPr>
            <p:cNvPr name="Freeform 35" id="35"/>
            <p:cNvSpPr/>
            <p:nvPr/>
          </p:nvSpPr>
          <p:spPr>
            <a:xfrm flipH="false" flipV="false" rot="0">
              <a:off x="0" y="0"/>
              <a:ext cx="768115" cy="708848"/>
            </a:xfrm>
            <a:custGeom>
              <a:avLst/>
              <a:gdLst/>
              <a:ahLst/>
              <a:cxnLst/>
              <a:rect r="r" b="b" t="t" l="l"/>
              <a:pathLst>
                <a:path h="708848" w="768115">
                  <a:moveTo>
                    <a:pt x="103529" y="0"/>
                  </a:moveTo>
                  <a:lnTo>
                    <a:pt x="664586" y="0"/>
                  </a:lnTo>
                  <a:cubicBezTo>
                    <a:pt x="692044" y="0"/>
                    <a:pt x="718376" y="10907"/>
                    <a:pt x="737792" y="30323"/>
                  </a:cubicBezTo>
                  <a:cubicBezTo>
                    <a:pt x="757207" y="49738"/>
                    <a:pt x="768115" y="76071"/>
                    <a:pt x="768115" y="103529"/>
                  </a:cubicBezTo>
                  <a:lnTo>
                    <a:pt x="768115" y="605319"/>
                  </a:lnTo>
                  <a:cubicBezTo>
                    <a:pt x="768115" y="632777"/>
                    <a:pt x="757207" y="659110"/>
                    <a:pt x="737792" y="678525"/>
                  </a:cubicBezTo>
                  <a:cubicBezTo>
                    <a:pt x="718376" y="697940"/>
                    <a:pt x="692044" y="708848"/>
                    <a:pt x="664586" y="708848"/>
                  </a:cubicBezTo>
                  <a:lnTo>
                    <a:pt x="103529" y="708848"/>
                  </a:lnTo>
                  <a:cubicBezTo>
                    <a:pt x="76071" y="708848"/>
                    <a:pt x="49738" y="697940"/>
                    <a:pt x="30323" y="678525"/>
                  </a:cubicBezTo>
                  <a:cubicBezTo>
                    <a:pt x="10907" y="659110"/>
                    <a:pt x="0" y="632777"/>
                    <a:pt x="0" y="605319"/>
                  </a:cubicBezTo>
                  <a:lnTo>
                    <a:pt x="0" y="103529"/>
                  </a:lnTo>
                  <a:cubicBezTo>
                    <a:pt x="0" y="76071"/>
                    <a:pt x="10907" y="49738"/>
                    <a:pt x="30323" y="30323"/>
                  </a:cubicBezTo>
                  <a:cubicBezTo>
                    <a:pt x="49738" y="10907"/>
                    <a:pt x="76071" y="0"/>
                    <a:pt x="103529" y="0"/>
                  </a:cubicBezTo>
                  <a:close/>
                </a:path>
              </a:pathLst>
            </a:custGeom>
            <a:ln w="38100" cap="rnd">
              <a:solidFill>
                <a:srgbClr val="026263"/>
              </a:solidFill>
              <a:prstDash val="solid"/>
              <a:round/>
            </a:ln>
          </p:spPr>
        </p:sp>
        <p:sp>
          <p:nvSpPr>
            <p:cNvPr name="TextBox 36" id="36"/>
            <p:cNvSpPr txBox="true"/>
            <p:nvPr/>
          </p:nvSpPr>
          <p:spPr>
            <a:xfrm>
              <a:off x="0" y="-85725"/>
              <a:ext cx="768115" cy="794573"/>
            </a:xfrm>
            <a:prstGeom prst="rect">
              <a:avLst/>
            </a:prstGeom>
          </p:spPr>
          <p:txBody>
            <a:bodyPr anchor="ctr" rtlCol="false" tIns="50800" lIns="50800" bIns="50800" rIns="50800"/>
            <a:lstStyle/>
            <a:p>
              <a:pPr algn="ctr" marL="0" indent="0" lvl="0">
                <a:lnSpc>
                  <a:spcPts val="2659"/>
                </a:lnSpc>
              </a:pPr>
            </a:p>
          </p:txBody>
        </p:sp>
      </p:grpSp>
      <p:sp>
        <p:nvSpPr>
          <p:cNvPr name="TextBox 37" id="37"/>
          <p:cNvSpPr txBox="true"/>
          <p:nvPr/>
        </p:nvSpPr>
        <p:spPr>
          <a:xfrm rot="0">
            <a:off x="12317961" y="6271759"/>
            <a:ext cx="2284128" cy="1673358"/>
          </a:xfrm>
          <a:prstGeom prst="rect">
            <a:avLst/>
          </a:prstGeom>
        </p:spPr>
        <p:txBody>
          <a:bodyPr anchor="t" rtlCol="false" tIns="0" lIns="0" bIns="0" rIns="0">
            <a:spAutoFit/>
          </a:bodyPr>
          <a:lstStyle/>
          <a:p>
            <a:pPr algn="l" marL="0" indent="0" lvl="0">
              <a:lnSpc>
                <a:spcPts val="3317"/>
              </a:lnSpc>
            </a:pPr>
            <a:r>
              <a:rPr lang="en-US" sz="2369">
                <a:solidFill>
                  <a:srgbClr val="026263"/>
                </a:solidFill>
                <a:latin typeface="Iffat"/>
                <a:ea typeface="Iffat"/>
                <a:cs typeface="Iffat"/>
                <a:sym typeface="Iffat"/>
              </a:rPr>
              <a:t>Deployment: n8n Cloud ensures reliable hosting and accessibility.</a:t>
            </a:r>
          </a:p>
        </p:txBody>
      </p:sp>
      <p:grpSp>
        <p:nvGrpSpPr>
          <p:cNvPr name="Group 38" id="38"/>
          <p:cNvGrpSpPr/>
          <p:nvPr/>
        </p:nvGrpSpPr>
        <p:grpSpPr>
          <a:xfrm rot="0">
            <a:off x="9686965" y="6026490"/>
            <a:ext cx="1905681" cy="2676822"/>
            <a:chOff x="0" y="0"/>
            <a:chExt cx="501908" cy="705007"/>
          </a:xfrm>
        </p:grpSpPr>
        <p:sp>
          <p:nvSpPr>
            <p:cNvPr name="Freeform 39" id="39"/>
            <p:cNvSpPr/>
            <p:nvPr/>
          </p:nvSpPr>
          <p:spPr>
            <a:xfrm flipH="false" flipV="false" rot="0">
              <a:off x="0" y="0"/>
              <a:ext cx="501908" cy="705007"/>
            </a:xfrm>
            <a:custGeom>
              <a:avLst/>
              <a:gdLst/>
              <a:ahLst/>
              <a:cxnLst/>
              <a:rect r="r" b="b" t="t" l="l"/>
              <a:pathLst>
                <a:path h="705007" w="501908">
                  <a:moveTo>
                    <a:pt x="158439" y="0"/>
                  </a:moveTo>
                  <a:lnTo>
                    <a:pt x="343468" y="0"/>
                  </a:lnTo>
                  <a:cubicBezTo>
                    <a:pt x="430972" y="0"/>
                    <a:pt x="501908" y="70936"/>
                    <a:pt x="501908" y="158439"/>
                  </a:cubicBezTo>
                  <a:lnTo>
                    <a:pt x="501908" y="546567"/>
                  </a:lnTo>
                  <a:cubicBezTo>
                    <a:pt x="501908" y="588588"/>
                    <a:pt x="485215" y="628888"/>
                    <a:pt x="455502" y="658601"/>
                  </a:cubicBezTo>
                  <a:cubicBezTo>
                    <a:pt x="425789" y="688314"/>
                    <a:pt x="385489" y="705007"/>
                    <a:pt x="343468" y="705007"/>
                  </a:cubicBezTo>
                  <a:lnTo>
                    <a:pt x="158439" y="705007"/>
                  </a:lnTo>
                  <a:cubicBezTo>
                    <a:pt x="116419" y="705007"/>
                    <a:pt x="76119" y="688314"/>
                    <a:pt x="46406" y="658601"/>
                  </a:cubicBezTo>
                  <a:cubicBezTo>
                    <a:pt x="16693" y="628888"/>
                    <a:pt x="0" y="588588"/>
                    <a:pt x="0" y="546567"/>
                  </a:cubicBezTo>
                  <a:lnTo>
                    <a:pt x="0" y="158439"/>
                  </a:lnTo>
                  <a:cubicBezTo>
                    <a:pt x="0" y="116419"/>
                    <a:pt x="16693" y="76119"/>
                    <a:pt x="46406" y="46406"/>
                  </a:cubicBezTo>
                  <a:cubicBezTo>
                    <a:pt x="76119" y="16693"/>
                    <a:pt x="116419" y="0"/>
                    <a:pt x="158439" y="0"/>
                  </a:cubicBezTo>
                  <a:close/>
                </a:path>
              </a:pathLst>
            </a:custGeom>
            <a:solidFill>
              <a:srgbClr val="026263"/>
            </a:solidFill>
            <a:ln cap="rnd">
              <a:noFill/>
              <a:prstDash val="solid"/>
              <a:round/>
            </a:ln>
          </p:spPr>
        </p:sp>
        <p:sp>
          <p:nvSpPr>
            <p:cNvPr name="TextBox 40" id="40"/>
            <p:cNvSpPr txBox="true"/>
            <p:nvPr/>
          </p:nvSpPr>
          <p:spPr>
            <a:xfrm>
              <a:off x="0" y="-85725"/>
              <a:ext cx="501908" cy="790732"/>
            </a:xfrm>
            <a:prstGeom prst="rect">
              <a:avLst/>
            </a:prstGeom>
          </p:spPr>
          <p:txBody>
            <a:bodyPr anchor="ctr" rtlCol="false" tIns="50800" lIns="50800" bIns="50800" rIns="50800"/>
            <a:lstStyle/>
            <a:p>
              <a:pPr algn="ctr" marL="0" indent="0" lvl="0">
                <a:lnSpc>
                  <a:spcPts val="2659"/>
                </a:lnSpc>
              </a:pPr>
            </a:p>
          </p:txBody>
        </p:sp>
      </p:grpSp>
      <p:sp>
        <p:nvSpPr>
          <p:cNvPr name="TextBox 41" id="41"/>
          <p:cNvSpPr txBox="true"/>
          <p:nvPr/>
        </p:nvSpPr>
        <p:spPr>
          <a:xfrm rot="0">
            <a:off x="10127366" y="6765455"/>
            <a:ext cx="1024878" cy="940523"/>
          </a:xfrm>
          <a:prstGeom prst="rect">
            <a:avLst/>
          </a:prstGeom>
        </p:spPr>
        <p:txBody>
          <a:bodyPr anchor="t" rtlCol="false" tIns="0" lIns="0" bIns="0" rIns="0">
            <a:spAutoFit/>
          </a:bodyPr>
          <a:lstStyle/>
          <a:p>
            <a:pPr algn="ctr" marL="0" indent="0" lvl="0">
              <a:lnSpc>
                <a:spcPts val="7485"/>
              </a:lnSpc>
            </a:pPr>
            <a:r>
              <a:rPr lang="en-US" b="true" sz="5346">
                <a:solidFill>
                  <a:srgbClr val="DEDEDE"/>
                </a:solidFill>
                <a:latin typeface="Helios Extended Bold"/>
                <a:ea typeface="Helios Extended Bold"/>
                <a:cs typeface="Helios Extended Bold"/>
                <a:sym typeface="Helios Extended Bold"/>
              </a:rPr>
              <a:t>4</a:t>
            </a:r>
          </a:p>
        </p:txBody>
      </p:sp>
      <p:sp>
        <p:nvSpPr>
          <p:cNvPr name="TextBox 42" id="42"/>
          <p:cNvSpPr txBox="true"/>
          <p:nvPr/>
        </p:nvSpPr>
        <p:spPr>
          <a:xfrm rot="0">
            <a:off x="1028700" y="9227975"/>
            <a:ext cx="2933362" cy="378832"/>
          </a:xfrm>
          <a:prstGeom prst="rect">
            <a:avLst/>
          </a:prstGeom>
        </p:spPr>
        <p:txBody>
          <a:bodyPr anchor="t" rtlCol="false" tIns="0" lIns="0" bIns="0" rIns="0">
            <a:spAutoFit/>
          </a:bodyPr>
          <a:lstStyle/>
          <a:p>
            <a:pPr algn="l" marL="0" indent="0" lvl="0">
              <a:lnSpc>
                <a:spcPts val="3190"/>
              </a:lnSpc>
            </a:pPr>
            <a:r>
              <a:rPr lang="en-US" b="true" sz="2279">
                <a:solidFill>
                  <a:srgbClr val="026263"/>
                </a:solidFill>
                <a:latin typeface="DM Sans Bold"/>
                <a:ea typeface="DM Sans Bold"/>
                <a:cs typeface="DM Sans Bold"/>
                <a:sym typeface="DM Sans Bold"/>
              </a:rPr>
              <a:t>Presentation I 07</a:t>
            </a:r>
          </a:p>
        </p:txBody>
      </p:sp>
      <p:sp>
        <p:nvSpPr>
          <p:cNvPr name="AutoShape 43" id="43"/>
          <p:cNvSpPr/>
          <p:nvPr/>
        </p:nvSpPr>
        <p:spPr>
          <a:xfrm>
            <a:off x="3683318" y="9455470"/>
            <a:ext cx="7977806" cy="0"/>
          </a:xfrm>
          <a:prstGeom prst="line">
            <a:avLst/>
          </a:prstGeom>
          <a:ln cap="flat" w="19050">
            <a:solidFill>
              <a:srgbClr val="026263"/>
            </a:solidFill>
            <a:prstDash val="solid"/>
            <a:headEnd type="none" len="sm" w="sm"/>
            <a:tailEnd type="oval" len="lg" w="lg"/>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875812" y="5692375"/>
            <a:ext cx="10999339" cy="5631662"/>
          </a:xfrm>
          <a:custGeom>
            <a:avLst/>
            <a:gdLst/>
            <a:ahLst/>
            <a:cxnLst/>
            <a:rect r="r" b="b" t="t" l="l"/>
            <a:pathLst>
              <a:path h="5631662" w="10999339">
                <a:moveTo>
                  <a:pt x="0" y="0"/>
                </a:moveTo>
                <a:lnTo>
                  <a:pt x="10999339" y="0"/>
                </a:lnTo>
                <a:lnTo>
                  <a:pt x="10999339" y="5631662"/>
                </a:lnTo>
                <a:lnTo>
                  <a:pt x="0" y="5631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587151" y="-1037037"/>
            <a:ext cx="10999339" cy="5631662"/>
          </a:xfrm>
          <a:custGeom>
            <a:avLst/>
            <a:gdLst/>
            <a:ahLst/>
            <a:cxnLst/>
            <a:rect r="r" b="b" t="t" l="l"/>
            <a:pathLst>
              <a:path h="5631662" w="10999339">
                <a:moveTo>
                  <a:pt x="10999339" y="5631662"/>
                </a:moveTo>
                <a:lnTo>
                  <a:pt x="0" y="5631662"/>
                </a:lnTo>
                <a:lnTo>
                  <a:pt x="0" y="0"/>
                </a:lnTo>
                <a:lnTo>
                  <a:pt x="10999339" y="0"/>
                </a:lnTo>
                <a:lnTo>
                  <a:pt x="10999339" y="563166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008145" y="4110038"/>
            <a:ext cx="5152455" cy="8237937"/>
          </a:xfrm>
          <a:custGeom>
            <a:avLst/>
            <a:gdLst/>
            <a:ahLst/>
            <a:cxnLst/>
            <a:rect r="r" b="b" t="t" l="l"/>
            <a:pathLst>
              <a:path h="8237937" w="5152455">
                <a:moveTo>
                  <a:pt x="5152455" y="0"/>
                </a:moveTo>
                <a:lnTo>
                  <a:pt x="0" y="0"/>
                </a:lnTo>
                <a:lnTo>
                  <a:pt x="0" y="8237937"/>
                </a:lnTo>
                <a:lnTo>
                  <a:pt x="5152455" y="8237937"/>
                </a:lnTo>
                <a:lnTo>
                  <a:pt x="51524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3889831" y="-2340175"/>
            <a:ext cx="5152455" cy="8237937"/>
          </a:xfrm>
          <a:custGeom>
            <a:avLst/>
            <a:gdLst/>
            <a:ahLst/>
            <a:cxnLst/>
            <a:rect r="r" b="b" t="t" l="l"/>
            <a:pathLst>
              <a:path h="8237937" w="5152455">
                <a:moveTo>
                  <a:pt x="0" y="8237937"/>
                </a:moveTo>
                <a:lnTo>
                  <a:pt x="5152455" y="8237937"/>
                </a:lnTo>
                <a:lnTo>
                  <a:pt x="5152455" y="0"/>
                </a:lnTo>
                <a:lnTo>
                  <a:pt x="0" y="0"/>
                </a:lnTo>
                <a:lnTo>
                  <a:pt x="0" y="823793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400000">
            <a:off x="16457134" y="3902331"/>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5400000">
            <a:off x="226534" y="5737959"/>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807156" y="1878175"/>
            <a:ext cx="12673688" cy="1385818"/>
          </a:xfrm>
          <a:prstGeom prst="rect">
            <a:avLst/>
          </a:prstGeom>
        </p:spPr>
        <p:txBody>
          <a:bodyPr anchor="t" rtlCol="false" tIns="0" lIns="0" bIns="0" rIns="0">
            <a:spAutoFit/>
          </a:bodyPr>
          <a:lstStyle/>
          <a:p>
            <a:pPr algn="ctr" marL="0" indent="0" lvl="0">
              <a:lnSpc>
                <a:spcPts val="11018"/>
              </a:lnSpc>
            </a:pPr>
            <a:r>
              <a:rPr lang="en-US" b="true" sz="7870">
                <a:solidFill>
                  <a:srgbClr val="026263"/>
                </a:solidFill>
                <a:latin typeface="Helios Extended Bold"/>
                <a:ea typeface="Helios Extended Bold"/>
                <a:cs typeface="Helios Extended Bold"/>
                <a:sym typeface="Helios Extended Bold"/>
              </a:rPr>
              <a:t>KEY BENEFITS</a:t>
            </a:r>
          </a:p>
        </p:txBody>
      </p:sp>
      <p:sp>
        <p:nvSpPr>
          <p:cNvPr name="TextBox 10" id="10"/>
          <p:cNvSpPr txBox="true"/>
          <p:nvPr/>
        </p:nvSpPr>
        <p:spPr>
          <a:xfrm rot="0">
            <a:off x="2858863" y="3436775"/>
            <a:ext cx="12570275" cy="3124254"/>
          </a:xfrm>
          <a:prstGeom prst="rect">
            <a:avLst/>
          </a:prstGeom>
        </p:spPr>
        <p:txBody>
          <a:bodyPr anchor="t" rtlCol="false" tIns="0" lIns="0" bIns="0" rIns="0">
            <a:spAutoFit/>
          </a:bodyPr>
          <a:lstStyle/>
          <a:p>
            <a:pPr algn="l" marL="0" indent="0" lvl="0">
              <a:lnSpc>
                <a:spcPts val="4197"/>
              </a:lnSpc>
            </a:pPr>
            <a:r>
              <a:rPr lang="en-US" sz="2997">
                <a:solidFill>
                  <a:srgbClr val="026263"/>
                </a:solidFill>
                <a:latin typeface="Iffat"/>
                <a:ea typeface="Iffat"/>
                <a:cs typeface="Iffat"/>
                <a:sym typeface="Iffat"/>
              </a:rPr>
              <a:t>Saves study time and improves revision efficiency by creating concise, organized notes instantly from any topic.</a:t>
            </a:r>
          </a:p>
          <a:p>
            <a:pPr algn="l" marL="0" indent="0" lvl="0">
              <a:lnSpc>
                <a:spcPts val="4197"/>
              </a:lnSpc>
            </a:pPr>
            <a:r>
              <a:rPr lang="en-US" sz="2997">
                <a:solidFill>
                  <a:srgbClr val="026263"/>
                </a:solidFill>
                <a:latin typeface="Iffat"/>
                <a:ea typeface="Iffat"/>
                <a:cs typeface="Iffat"/>
                <a:sym typeface="Iffat"/>
              </a:rPr>
              <a:t>Helps beginners and is accessible from any device, making learning easier for all students regardless of their starting point.</a:t>
            </a:r>
          </a:p>
          <a:p>
            <a:pPr algn="l" marL="0" indent="0" lvl="0">
              <a:lnSpc>
                <a:spcPts val="4197"/>
              </a:lnSpc>
            </a:pPr>
            <a:r>
              <a:rPr lang="en-US" sz="2997">
                <a:solidFill>
                  <a:srgbClr val="026263"/>
                </a:solidFill>
                <a:latin typeface="Iffat"/>
                <a:ea typeface="Iffat"/>
                <a:cs typeface="Iffat"/>
                <a:sym typeface="Iffat"/>
              </a:rPr>
              <a:t>Reduces dependency on multiple websites by providing a single, reliable source for all study materials.</a:t>
            </a:r>
          </a:p>
        </p:txBody>
      </p:sp>
      <p:sp>
        <p:nvSpPr>
          <p:cNvPr name="TextBox 11" id="11"/>
          <p:cNvSpPr txBox="true"/>
          <p:nvPr/>
        </p:nvSpPr>
        <p:spPr>
          <a:xfrm rot="0">
            <a:off x="1028700" y="9227975"/>
            <a:ext cx="2933362" cy="378832"/>
          </a:xfrm>
          <a:prstGeom prst="rect">
            <a:avLst/>
          </a:prstGeom>
        </p:spPr>
        <p:txBody>
          <a:bodyPr anchor="t" rtlCol="false" tIns="0" lIns="0" bIns="0" rIns="0">
            <a:spAutoFit/>
          </a:bodyPr>
          <a:lstStyle/>
          <a:p>
            <a:pPr algn="l" marL="0" indent="0" lvl="0">
              <a:lnSpc>
                <a:spcPts val="3190"/>
              </a:lnSpc>
            </a:pPr>
            <a:r>
              <a:rPr lang="en-US" b="true" sz="2279">
                <a:solidFill>
                  <a:srgbClr val="026263"/>
                </a:solidFill>
                <a:latin typeface="DM Sans Bold"/>
                <a:ea typeface="DM Sans Bold"/>
                <a:cs typeface="DM Sans Bold"/>
                <a:sym typeface="DM Sans Bold"/>
              </a:rPr>
              <a:t>Presentation I 08</a:t>
            </a:r>
          </a:p>
        </p:txBody>
      </p:sp>
      <p:sp>
        <p:nvSpPr>
          <p:cNvPr name="AutoShape 12" id="12"/>
          <p:cNvSpPr/>
          <p:nvPr/>
        </p:nvSpPr>
        <p:spPr>
          <a:xfrm>
            <a:off x="3683318" y="9455470"/>
            <a:ext cx="7977806" cy="0"/>
          </a:xfrm>
          <a:prstGeom prst="line">
            <a:avLst/>
          </a:prstGeom>
          <a:ln cap="flat" w="19050">
            <a:solidFill>
              <a:srgbClr val="026263"/>
            </a:solidFill>
            <a:prstDash val="solid"/>
            <a:headEnd type="none" len="sm" w="sm"/>
            <a:tailEnd type="oval" len="lg" w="lg"/>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875812" y="5692375"/>
            <a:ext cx="10999339" cy="5631662"/>
          </a:xfrm>
          <a:custGeom>
            <a:avLst/>
            <a:gdLst/>
            <a:ahLst/>
            <a:cxnLst/>
            <a:rect r="r" b="b" t="t" l="l"/>
            <a:pathLst>
              <a:path h="5631662" w="10999339">
                <a:moveTo>
                  <a:pt x="0" y="0"/>
                </a:moveTo>
                <a:lnTo>
                  <a:pt x="10999339" y="0"/>
                </a:lnTo>
                <a:lnTo>
                  <a:pt x="10999339" y="5631662"/>
                </a:lnTo>
                <a:lnTo>
                  <a:pt x="0" y="5631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587151" y="-1037037"/>
            <a:ext cx="10999339" cy="5631662"/>
          </a:xfrm>
          <a:custGeom>
            <a:avLst/>
            <a:gdLst/>
            <a:ahLst/>
            <a:cxnLst/>
            <a:rect r="r" b="b" t="t" l="l"/>
            <a:pathLst>
              <a:path h="5631662" w="10999339">
                <a:moveTo>
                  <a:pt x="10999339" y="5631662"/>
                </a:moveTo>
                <a:lnTo>
                  <a:pt x="0" y="5631662"/>
                </a:lnTo>
                <a:lnTo>
                  <a:pt x="0" y="0"/>
                </a:lnTo>
                <a:lnTo>
                  <a:pt x="10999339" y="0"/>
                </a:lnTo>
                <a:lnTo>
                  <a:pt x="10999339" y="563166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008145" y="4110038"/>
            <a:ext cx="5152455" cy="8237937"/>
          </a:xfrm>
          <a:custGeom>
            <a:avLst/>
            <a:gdLst/>
            <a:ahLst/>
            <a:cxnLst/>
            <a:rect r="r" b="b" t="t" l="l"/>
            <a:pathLst>
              <a:path h="8237937" w="5152455">
                <a:moveTo>
                  <a:pt x="5152455" y="0"/>
                </a:moveTo>
                <a:lnTo>
                  <a:pt x="0" y="0"/>
                </a:lnTo>
                <a:lnTo>
                  <a:pt x="0" y="8237937"/>
                </a:lnTo>
                <a:lnTo>
                  <a:pt x="5152455" y="8237937"/>
                </a:lnTo>
                <a:lnTo>
                  <a:pt x="51524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3889831" y="-2340175"/>
            <a:ext cx="5152455" cy="8237937"/>
          </a:xfrm>
          <a:custGeom>
            <a:avLst/>
            <a:gdLst/>
            <a:ahLst/>
            <a:cxnLst/>
            <a:rect r="r" b="b" t="t" l="l"/>
            <a:pathLst>
              <a:path h="8237937" w="5152455">
                <a:moveTo>
                  <a:pt x="0" y="8237937"/>
                </a:moveTo>
                <a:lnTo>
                  <a:pt x="5152455" y="8237937"/>
                </a:lnTo>
                <a:lnTo>
                  <a:pt x="5152455" y="0"/>
                </a:lnTo>
                <a:lnTo>
                  <a:pt x="0" y="0"/>
                </a:lnTo>
                <a:lnTo>
                  <a:pt x="0" y="823793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400000">
            <a:off x="16457134" y="3902331"/>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5400000">
            <a:off x="226534" y="5737959"/>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807156" y="1878175"/>
            <a:ext cx="12673688" cy="1385818"/>
          </a:xfrm>
          <a:prstGeom prst="rect">
            <a:avLst/>
          </a:prstGeom>
        </p:spPr>
        <p:txBody>
          <a:bodyPr anchor="t" rtlCol="false" tIns="0" lIns="0" bIns="0" rIns="0">
            <a:spAutoFit/>
          </a:bodyPr>
          <a:lstStyle/>
          <a:p>
            <a:pPr algn="ctr" marL="0" indent="0" lvl="0">
              <a:lnSpc>
                <a:spcPts val="11018"/>
              </a:lnSpc>
            </a:pPr>
            <a:r>
              <a:rPr lang="en-US" b="true" sz="7870">
                <a:solidFill>
                  <a:srgbClr val="026263"/>
                </a:solidFill>
                <a:latin typeface="Helios Extended Bold"/>
                <a:ea typeface="Helios Extended Bold"/>
                <a:cs typeface="Helios Extended Bold"/>
                <a:sym typeface="Helios Extended Bold"/>
              </a:rPr>
              <a:t>FUTURE SCOPE</a:t>
            </a:r>
          </a:p>
        </p:txBody>
      </p:sp>
      <p:sp>
        <p:nvSpPr>
          <p:cNvPr name="TextBox 10" id="10"/>
          <p:cNvSpPr txBox="true"/>
          <p:nvPr/>
        </p:nvSpPr>
        <p:spPr>
          <a:xfrm rot="0">
            <a:off x="2858863" y="3436775"/>
            <a:ext cx="12570275" cy="3648129"/>
          </a:xfrm>
          <a:prstGeom prst="rect">
            <a:avLst/>
          </a:prstGeom>
        </p:spPr>
        <p:txBody>
          <a:bodyPr anchor="t" rtlCol="false" tIns="0" lIns="0" bIns="0" rIns="0">
            <a:spAutoFit/>
          </a:bodyPr>
          <a:lstStyle/>
          <a:p>
            <a:pPr algn="l" marL="0" indent="0" lvl="0">
              <a:lnSpc>
                <a:spcPts val="4197"/>
              </a:lnSpc>
            </a:pPr>
            <a:r>
              <a:rPr lang="en-US" sz="2997">
                <a:solidFill>
                  <a:srgbClr val="026263"/>
                </a:solidFill>
                <a:latin typeface="Iffat"/>
                <a:ea typeface="Iffat"/>
                <a:cs typeface="Iffat"/>
                <a:sym typeface="Iffat"/>
              </a:rPr>
              <a:t>• PDF Export &amp; Quiz Generation: Enable students to download their generated notes as PDF documents and automatically create practice quizzes for self-assessment.</a:t>
            </a:r>
          </a:p>
          <a:p>
            <a:pPr algn="l" marL="0" indent="0" lvl="0">
              <a:lnSpc>
                <a:spcPts val="4197"/>
              </a:lnSpc>
            </a:pPr>
            <a:r>
              <a:rPr lang="en-US" sz="2997">
                <a:solidFill>
                  <a:srgbClr val="026263"/>
                </a:solidFill>
                <a:latin typeface="Iffat"/>
                <a:ea typeface="Iffat"/>
                <a:cs typeface="Iffat"/>
                <a:sym typeface="Iffat"/>
              </a:rPr>
              <a:t>• Flashcards &amp; Multilingual Notes: Add flashcard mode for active recall learning and expand the system to generate notes in multiple languages for diverse student populations.</a:t>
            </a:r>
          </a:p>
          <a:p>
            <a:pPr algn="l" marL="0" indent="0" lvl="0">
              <a:lnSpc>
                <a:spcPts val="4197"/>
              </a:lnSpc>
            </a:pPr>
            <a:r>
              <a:rPr lang="en-US" sz="2997">
                <a:solidFill>
                  <a:srgbClr val="026263"/>
                </a:solidFill>
                <a:latin typeface="Iffat"/>
                <a:ea typeface="Iffat"/>
                <a:cs typeface="Iffat"/>
                <a:sym typeface="Iffat"/>
              </a:rPr>
              <a:t>• Voice-Based Study Assistant: Integrate voice commands allowing hands-free note generation, topic queries, and study guidance through natural language interactions.</a:t>
            </a:r>
          </a:p>
        </p:txBody>
      </p:sp>
      <p:sp>
        <p:nvSpPr>
          <p:cNvPr name="TextBox 11" id="11"/>
          <p:cNvSpPr txBox="true"/>
          <p:nvPr/>
        </p:nvSpPr>
        <p:spPr>
          <a:xfrm rot="0">
            <a:off x="1028700" y="9227975"/>
            <a:ext cx="2933362" cy="378832"/>
          </a:xfrm>
          <a:prstGeom prst="rect">
            <a:avLst/>
          </a:prstGeom>
        </p:spPr>
        <p:txBody>
          <a:bodyPr anchor="t" rtlCol="false" tIns="0" lIns="0" bIns="0" rIns="0">
            <a:spAutoFit/>
          </a:bodyPr>
          <a:lstStyle/>
          <a:p>
            <a:pPr algn="l" marL="0" indent="0" lvl="0">
              <a:lnSpc>
                <a:spcPts val="3190"/>
              </a:lnSpc>
            </a:pPr>
            <a:r>
              <a:rPr lang="en-US" b="true" sz="2279">
                <a:solidFill>
                  <a:srgbClr val="026263"/>
                </a:solidFill>
                <a:latin typeface="DM Sans Bold"/>
                <a:ea typeface="DM Sans Bold"/>
                <a:cs typeface="DM Sans Bold"/>
                <a:sym typeface="DM Sans Bold"/>
              </a:rPr>
              <a:t>Presentation I 09</a:t>
            </a:r>
          </a:p>
        </p:txBody>
      </p:sp>
      <p:sp>
        <p:nvSpPr>
          <p:cNvPr name="AutoShape 12" id="12"/>
          <p:cNvSpPr/>
          <p:nvPr/>
        </p:nvSpPr>
        <p:spPr>
          <a:xfrm>
            <a:off x="3683318" y="9455470"/>
            <a:ext cx="7977806" cy="0"/>
          </a:xfrm>
          <a:prstGeom prst="line">
            <a:avLst/>
          </a:prstGeom>
          <a:ln cap="flat" w="19050">
            <a:solidFill>
              <a:srgbClr val="026263"/>
            </a:solidFill>
            <a:prstDash val="solid"/>
            <a:headEnd type="none" len="sm" w="sm"/>
            <a:tailEnd type="oval" len="lg" w="lg"/>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875812" y="5692375"/>
            <a:ext cx="10999339" cy="5631662"/>
          </a:xfrm>
          <a:custGeom>
            <a:avLst/>
            <a:gdLst/>
            <a:ahLst/>
            <a:cxnLst/>
            <a:rect r="r" b="b" t="t" l="l"/>
            <a:pathLst>
              <a:path h="5631662" w="10999339">
                <a:moveTo>
                  <a:pt x="0" y="0"/>
                </a:moveTo>
                <a:lnTo>
                  <a:pt x="10999339" y="0"/>
                </a:lnTo>
                <a:lnTo>
                  <a:pt x="10999339" y="5631662"/>
                </a:lnTo>
                <a:lnTo>
                  <a:pt x="0" y="5631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587151" y="-1037037"/>
            <a:ext cx="10999339" cy="5631662"/>
          </a:xfrm>
          <a:custGeom>
            <a:avLst/>
            <a:gdLst/>
            <a:ahLst/>
            <a:cxnLst/>
            <a:rect r="r" b="b" t="t" l="l"/>
            <a:pathLst>
              <a:path h="5631662" w="10999339">
                <a:moveTo>
                  <a:pt x="10999339" y="5631662"/>
                </a:moveTo>
                <a:lnTo>
                  <a:pt x="0" y="5631662"/>
                </a:lnTo>
                <a:lnTo>
                  <a:pt x="0" y="0"/>
                </a:lnTo>
                <a:lnTo>
                  <a:pt x="10999339" y="0"/>
                </a:lnTo>
                <a:lnTo>
                  <a:pt x="10999339" y="563166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008145" y="4110038"/>
            <a:ext cx="5152455" cy="8237937"/>
          </a:xfrm>
          <a:custGeom>
            <a:avLst/>
            <a:gdLst/>
            <a:ahLst/>
            <a:cxnLst/>
            <a:rect r="r" b="b" t="t" l="l"/>
            <a:pathLst>
              <a:path h="8237937" w="5152455">
                <a:moveTo>
                  <a:pt x="5152455" y="0"/>
                </a:moveTo>
                <a:lnTo>
                  <a:pt x="0" y="0"/>
                </a:lnTo>
                <a:lnTo>
                  <a:pt x="0" y="8237937"/>
                </a:lnTo>
                <a:lnTo>
                  <a:pt x="5152455" y="8237937"/>
                </a:lnTo>
                <a:lnTo>
                  <a:pt x="51524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3889831" y="-2340175"/>
            <a:ext cx="5152455" cy="8237937"/>
          </a:xfrm>
          <a:custGeom>
            <a:avLst/>
            <a:gdLst/>
            <a:ahLst/>
            <a:cxnLst/>
            <a:rect r="r" b="b" t="t" l="l"/>
            <a:pathLst>
              <a:path h="8237937" w="5152455">
                <a:moveTo>
                  <a:pt x="0" y="8237937"/>
                </a:moveTo>
                <a:lnTo>
                  <a:pt x="5152455" y="8237937"/>
                </a:lnTo>
                <a:lnTo>
                  <a:pt x="5152455" y="0"/>
                </a:lnTo>
                <a:lnTo>
                  <a:pt x="0" y="0"/>
                </a:lnTo>
                <a:lnTo>
                  <a:pt x="0" y="823793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400000">
            <a:off x="16457134" y="3902331"/>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5400000">
            <a:off x="226534" y="5737959"/>
            <a:ext cx="1604332" cy="878007"/>
          </a:xfrm>
          <a:custGeom>
            <a:avLst/>
            <a:gdLst/>
            <a:ahLst/>
            <a:cxnLst/>
            <a:rect r="r" b="b" t="t" l="l"/>
            <a:pathLst>
              <a:path h="878007" w="1604332">
                <a:moveTo>
                  <a:pt x="0" y="0"/>
                </a:moveTo>
                <a:lnTo>
                  <a:pt x="1604332" y="0"/>
                </a:lnTo>
                <a:lnTo>
                  <a:pt x="1604332" y="878007"/>
                </a:lnTo>
                <a:lnTo>
                  <a:pt x="0" y="8780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962062" y="2411575"/>
            <a:ext cx="10363876" cy="1385818"/>
          </a:xfrm>
          <a:prstGeom prst="rect">
            <a:avLst/>
          </a:prstGeom>
        </p:spPr>
        <p:txBody>
          <a:bodyPr anchor="t" rtlCol="false" tIns="0" lIns="0" bIns="0" rIns="0">
            <a:spAutoFit/>
          </a:bodyPr>
          <a:lstStyle/>
          <a:p>
            <a:pPr algn="ctr" marL="0" indent="0" lvl="0">
              <a:lnSpc>
                <a:spcPts val="11018"/>
              </a:lnSpc>
            </a:pPr>
            <a:r>
              <a:rPr lang="en-US" b="true" sz="7870">
                <a:solidFill>
                  <a:srgbClr val="026263"/>
                </a:solidFill>
                <a:latin typeface="Helios Extended Bold"/>
                <a:ea typeface="Helios Extended Bold"/>
                <a:cs typeface="Helios Extended Bold"/>
                <a:sym typeface="Helios Extended Bold"/>
              </a:rPr>
              <a:t>CONCLUSION</a:t>
            </a:r>
          </a:p>
        </p:txBody>
      </p:sp>
      <p:sp>
        <p:nvSpPr>
          <p:cNvPr name="TextBox 10" id="10"/>
          <p:cNvSpPr txBox="true"/>
          <p:nvPr/>
        </p:nvSpPr>
        <p:spPr>
          <a:xfrm rot="0">
            <a:off x="2858863" y="3970175"/>
            <a:ext cx="12570275" cy="3124254"/>
          </a:xfrm>
          <a:prstGeom prst="rect">
            <a:avLst/>
          </a:prstGeom>
        </p:spPr>
        <p:txBody>
          <a:bodyPr anchor="t" rtlCol="false" tIns="0" lIns="0" bIns="0" rIns="0">
            <a:spAutoFit/>
          </a:bodyPr>
          <a:lstStyle/>
          <a:p>
            <a:pPr algn="ctr" marL="0" indent="0" lvl="0">
              <a:lnSpc>
                <a:spcPts val="4197"/>
              </a:lnSpc>
            </a:pPr>
            <a:r>
              <a:rPr lang="en-US" sz="2997">
                <a:solidFill>
                  <a:srgbClr val="026263"/>
                </a:solidFill>
                <a:latin typeface="Iffat"/>
                <a:ea typeface="Iffat"/>
                <a:cs typeface="Iffat"/>
                <a:sym typeface="Iffat"/>
              </a:rPr>
              <a:t>AI Study Notes Generator is a simple educational AI project that helps students create quick, organized, and exam-focused notes using artificial intelligence. By automating the note-making process, students can save valuable study time and focus on understanding concepts rather than formatting notes. This project demonstrates the practical application of AI in education, making learning more efficient and accessible for everyone. Thank You.</a:t>
            </a:r>
          </a:p>
        </p:txBody>
      </p:sp>
      <p:sp>
        <p:nvSpPr>
          <p:cNvPr name="TextBox 11" id="11"/>
          <p:cNvSpPr txBox="true"/>
          <p:nvPr/>
        </p:nvSpPr>
        <p:spPr>
          <a:xfrm rot="0">
            <a:off x="1028700" y="9227975"/>
            <a:ext cx="2933362" cy="378832"/>
          </a:xfrm>
          <a:prstGeom prst="rect">
            <a:avLst/>
          </a:prstGeom>
        </p:spPr>
        <p:txBody>
          <a:bodyPr anchor="t" rtlCol="false" tIns="0" lIns="0" bIns="0" rIns="0">
            <a:spAutoFit/>
          </a:bodyPr>
          <a:lstStyle/>
          <a:p>
            <a:pPr algn="l" marL="0" indent="0" lvl="0">
              <a:lnSpc>
                <a:spcPts val="3190"/>
              </a:lnSpc>
            </a:pPr>
            <a:r>
              <a:rPr lang="en-US" b="true" sz="2279">
                <a:solidFill>
                  <a:srgbClr val="026263"/>
                </a:solidFill>
                <a:latin typeface="DM Sans Bold"/>
                <a:ea typeface="DM Sans Bold"/>
                <a:cs typeface="DM Sans Bold"/>
                <a:sym typeface="DM Sans Bold"/>
              </a:rPr>
              <a:t>Presentation I 10</a:t>
            </a:r>
          </a:p>
        </p:txBody>
      </p:sp>
      <p:sp>
        <p:nvSpPr>
          <p:cNvPr name="AutoShape 12" id="12"/>
          <p:cNvSpPr/>
          <p:nvPr/>
        </p:nvSpPr>
        <p:spPr>
          <a:xfrm>
            <a:off x="3683318" y="9455470"/>
            <a:ext cx="7977806" cy="0"/>
          </a:xfrm>
          <a:prstGeom prst="line">
            <a:avLst/>
          </a:prstGeom>
          <a:ln cap="flat" w="19050">
            <a:solidFill>
              <a:srgbClr val="026263"/>
            </a:solidFill>
            <a:prstDash val="solid"/>
            <a:headEnd type="none" len="sm" w="sm"/>
            <a:tailEnd type="oval" len="lg" w="lg"/>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DAHPAbUGCK0</dc:identifier>
  <dcterms:modified xsi:type="dcterms:W3CDTF">2011-08-01T06:04:30Z</dcterms:modified>
  <cp:revision>1</cp:revision>
  <dc:title>AI Study Notes Generator Overview</dc:title>
</cp:coreProperties>
</file>